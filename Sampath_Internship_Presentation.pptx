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9" r:id="rId4"/>
    <p:sldId id="260" r:id="rId5"/>
    <p:sldId id="261" r:id="rId6"/>
    <p:sldId id="262" r:id="rId7"/>
    <p:sldId id="264" r:id="rId8"/>
    <p:sldId id="258"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60"/>
    <p:restoredTop sz="94631"/>
  </p:normalViewPr>
  <p:slideViewPr>
    <p:cSldViewPr snapToGrid="0" snapToObjects="1">
      <p:cViewPr>
        <p:scale>
          <a:sx n="111" d="100"/>
          <a:sy n="111" d="100"/>
        </p:scale>
        <p:origin x="912" y="4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Volume (lakh)</c:v>
                </c:pt>
              </c:strCache>
            </c:strRef>
          </c:tx>
          <c:spPr>
            <a:solidFill>
              <a:srgbClr val="F26522"/>
            </a:solidFill>
            <a:effectLst/>
          </c:spPr>
          <c:invertIfNegative val="0"/>
          <c:dPt>
            <c:idx val="0"/>
            <c:invertIfNegative val="0"/>
            <c:bubble3D val="0"/>
            <c:spPr>
              <a:solidFill>
                <a:srgbClr val="F26522"/>
              </a:solidFill>
              <a:effectLst/>
            </c:spPr>
            <c:extLst>
              <c:ext xmlns:c16="http://schemas.microsoft.com/office/drawing/2014/chart" uri="{C3380CC4-5D6E-409C-BE32-E72D297353CC}">
                <c16:uniqueId val="{00000001-6B50-7745-B472-920991E3E9E5}"/>
              </c:ext>
            </c:extLst>
          </c:dPt>
          <c:dPt>
            <c:idx val="1"/>
            <c:invertIfNegative val="0"/>
            <c:bubble3D val="0"/>
            <c:spPr>
              <a:solidFill>
                <a:srgbClr val="5B3A8C"/>
              </a:solidFill>
              <a:effectLst/>
            </c:spPr>
            <c:extLst>
              <c:ext xmlns:c16="http://schemas.microsoft.com/office/drawing/2014/chart" uri="{C3380CC4-5D6E-409C-BE32-E72D297353CC}">
                <c16:uniqueId val="{00000003-6B50-7745-B472-920991E3E9E5}"/>
              </c:ext>
            </c:extLst>
          </c:dPt>
          <c:dPt>
            <c:idx val="2"/>
            <c:invertIfNegative val="0"/>
            <c:bubble3D val="0"/>
            <c:spPr>
              <a:solidFill>
                <a:srgbClr val="3B1E5F"/>
              </a:solidFill>
              <a:effectLst/>
            </c:spPr>
            <c:extLst>
              <c:ext xmlns:c16="http://schemas.microsoft.com/office/drawing/2014/chart" uri="{C3380CC4-5D6E-409C-BE32-E72D297353CC}">
                <c16:uniqueId val="{00000005-6B50-7745-B472-920991E3E9E5}"/>
              </c:ext>
            </c:extLst>
          </c:dPt>
          <c:dLbls>
            <c:numFmt formatCode="0&quot;L&quot;" sourceLinked="0"/>
            <c:spPr>
              <a:noFill/>
              <a:ln>
                <a:noFill/>
              </a:ln>
              <a:effectLst/>
            </c:spPr>
            <c:txPr>
              <a:bodyPr/>
              <a:lstStyle/>
              <a:p>
                <a:pPr>
                  <a:defRPr sz="1200" b="0" i="0" u="none" strike="noStrike">
                    <a:solidFill>
                      <a:srgbClr val="26262E"/>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Requests</c:v>
                </c:pt>
                <c:pt idx="1">
                  <c:v>Queries</c:v>
                </c:pt>
                <c:pt idx="2">
                  <c:v>Complaints</c:v>
                </c:pt>
              </c:strCache>
            </c:strRef>
          </c:cat>
          <c:val>
            <c:numRef>
              <c:f>Sheet1!$B$2:$B$4</c:f>
              <c:numCache>
                <c:formatCode>General</c:formatCode>
                <c:ptCount val="3"/>
                <c:pt idx="0">
                  <c:v>47</c:v>
                </c:pt>
                <c:pt idx="1">
                  <c:v>27</c:v>
                </c:pt>
                <c:pt idx="2">
                  <c:v>1</c:v>
                </c:pt>
              </c:numCache>
            </c:numRef>
          </c:val>
          <c:extLst>
            <c:ext xmlns:c16="http://schemas.microsoft.com/office/drawing/2014/chart" uri="{C3380CC4-5D6E-409C-BE32-E72D297353CC}">
              <c16:uniqueId val="{00000006-6B50-7745-B472-920991E3E9E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6262E"/>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1715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report covers my summer training at AU Small Finance Bank, Jaipur, where I worked as an intern in the Office of the MD &amp; CEO under the newly formed Centre of Excellence.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CoE sat directly inside the MD &amp; CEO's office. Because there was no fixed job description, the role spanned strategy, analytics and technology. AU SFB is India's largest small finance bank and was mid-way through its transition towards becoming an AI-native bank during my internship.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workstreams ran in parallel rather than in sequence. The ninth — senior management coordination — cut across all of them and is noted at the bottom.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Service was prioritised purely on volume — 47 lakh requests, 27 lakh queries and 1 lakh complaints in the last financial year. The proposed bot sits above the existing Core Banking System, authenticates the customer, retrieves the field requested and replies on the same channel.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representative challenges. The line at the bottom is the one that generalised beyond any single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four headline numbers summarise the measurable output; the right column is what I take forward. Long term I want to work in strategy, transformation or AI-enablement roles in financial services or consulting, and eventually lead a function like the CoE.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F14AB-E6A0-BA36-866A-BDE01AC8E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1F8F8-A8F8-BC45-1B8A-3725B92FE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16A55-0573-674B-AD52-7C1E3A98BCFA}"/>
              </a:ext>
            </a:extLst>
          </p:cNvPr>
          <p:cNvSpPr>
            <a:spLocks noGrp="1"/>
          </p:cNvSpPr>
          <p:nvPr>
            <p:ph type="body" idx="1"/>
          </p:nvPr>
        </p:nvSpPr>
        <p:spPr/>
        <p:txBody>
          <a:bodyPr/>
          <a:lstStyle/>
          <a:p>
            <a:r>
              <a:rPr lang="en-US" dirty="0"/>
              <a:t>Good morning. This report covers my summer training at AU Small Finance Bank, Jaipur, where I worked as an intern in the Office of the MD &amp; CEO under the newly formed Centre of Excellence.</a:t>
            </a:r>
          </a:p>
        </p:txBody>
      </p:sp>
      <p:sp>
        <p:nvSpPr>
          <p:cNvPr id="4" name="Slide Number Placeholder 3">
            <a:extLst>
              <a:ext uri="{FF2B5EF4-FFF2-40B4-BE49-F238E27FC236}">
                <a16:creationId xmlns:a16="http://schemas.microsoft.com/office/drawing/2014/main" id="{798DE78F-B417-E4E5-686B-8F4FB68C27C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59423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responsibilities recurred across every project. The italic line at the bottom captures the reality of the role — the mix changed constantly.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E5F"/>
        </a:solidFill>
        <a:effectLst/>
      </p:bgPr>
    </p:bg>
    <p:spTree>
      <p:nvGrpSpPr>
        <p:cNvPr id="1" name=""/>
        <p:cNvGrpSpPr/>
        <p:nvPr/>
      </p:nvGrpSpPr>
      <p:grpSpPr>
        <a:xfrm>
          <a:off x="0" y="0"/>
          <a:ext cx="0" cy="0"/>
          <a:chOff x="0" y="0"/>
          <a:chExt cx="0" cy="0"/>
        </a:xfrm>
      </p:grpSpPr>
      <p:sp>
        <p:nvSpPr>
          <p:cNvPr id="2" name="Shape 0"/>
          <p:cNvSpPr/>
          <p:nvPr/>
        </p:nvSpPr>
        <p:spPr>
          <a:xfrm>
            <a:off x="8595360" y="-1371600"/>
            <a:ext cx="5669280" cy="5669280"/>
          </a:xfrm>
          <a:prstGeom prst="ellipse">
            <a:avLst/>
          </a:prstGeom>
          <a:solidFill>
            <a:srgbClr val="5B3A8C">
              <a:alpha val="45000"/>
            </a:srgbClr>
          </a:solidFill>
          <a:ln/>
        </p:spPr>
        <p:txBody>
          <a:bodyPr/>
          <a:lstStyle/>
          <a:p>
            <a:endParaRPr lang="en-US" dirty="0"/>
          </a:p>
        </p:txBody>
      </p:sp>
      <p:sp>
        <p:nvSpPr>
          <p:cNvPr id="3" name="Shape 1"/>
          <p:cNvSpPr/>
          <p:nvPr/>
        </p:nvSpPr>
        <p:spPr>
          <a:xfrm>
            <a:off x="10058400" y="4023360"/>
            <a:ext cx="3108960" cy="3108960"/>
          </a:xfrm>
          <a:prstGeom prst="ellipse">
            <a:avLst/>
          </a:prstGeom>
          <a:solidFill>
            <a:srgbClr val="F26522">
              <a:alpha val="22000"/>
            </a:srgbClr>
          </a:solidFill>
          <a:ln/>
        </p:spPr>
      </p:sp>
      <p:sp>
        <p:nvSpPr>
          <p:cNvPr id="4" name="Text 2"/>
          <p:cNvSpPr txBox="1"/>
          <p:nvPr/>
        </p:nvSpPr>
        <p:spPr>
          <a:xfrm>
            <a:off x="777240" y="1051560"/>
            <a:ext cx="7315200" cy="274320"/>
          </a:xfrm>
          <a:prstGeom prst="rect">
            <a:avLst/>
          </a:prstGeom>
          <a:noFill/>
          <a:ln/>
        </p:spPr>
        <p:txBody>
          <a:bodyPr wrap="square" lIns="0" tIns="0" rIns="0" bIns="0" rtlCol="0" anchor="ctr"/>
          <a:lstStyle/>
          <a:p>
            <a:pPr marL="0" indent="0">
              <a:buNone/>
            </a:pPr>
            <a:r>
              <a:rPr lang="en-US" sz="1600" b="1" kern="0" spc="200" dirty="0">
                <a:solidFill>
                  <a:srgbClr val="F26522"/>
                </a:solidFill>
                <a:latin typeface="Calibri" pitchFamily="34" charset="0"/>
                <a:ea typeface="Calibri" pitchFamily="34" charset="-122"/>
                <a:cs typeface="Calibri" pitchFamily="34" charset="-120"/>
              </a:rPr>
              <a:t>SUMMER INTERNSHIP REPORT </a:t>
            </a:r>
            <a:endParaRPr lang="en-US" sz="1600" dirty="0"/>
          </a:p>
        </p:txBody>
      </p:sp>
      <p:sp>
        <p:nvSpPr>
          <p:cNvPr id="5" name="Text 3"/>
          <p:cNvSpPr txBox="1"/>
          <p:nvPr/>
        </p:nvSpPr>
        <p:spPr>
          <a:xfrm>
            <a:off x="777240" y="1476756"/>
            <a:ext cx="7863840" cy="868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MD &amp; CEO's Office Intern</a:t>
            </a:r>
            <a:endParaRPr lang="en-US" sz="4800" dirty="0"/>
          </a:p>
        </p:txBody>
      </p:sp>
      <p:sp>
        <p:nvSpPr>
          <p:cNvPr id="6" name="Text 4"/>
          <p:cNvSpPr txBox="1"/>
          <p:nvPr/>
        </p:nvSpPr>
        <p:spPr>
          <a:xfrm>
            <a:off x="777240" y="2359152"/>
            <a:ext cx="7863840" cy="548640"/>
          </a:xfrm>
          <a:prstGeom prst="rect">
            <a:avLst/>
          </a:prstGeom>
          <a:noFill/>
          <a:ln/>
        </p:spPr>
        <p:txBody>
          <a:bodyPr wrap="square" lIns="0" tIns="0" rIns="0" bIns="0" rtlCol="0" anchor="ctr"/>
          <a:lstStyle/>
          <a:p>
            <a:pPr marL="0" indent="0">
              <a:buNone/>
            </a:pPr>
            <a:r>
              <a:rPr lang="en-US" sz="2600" dirty="0">
                <a:solidFill>
                  <a:srgbClr val="E2D9EF"/>
                </a:solidFill>
                <a:latin typeface="Cambria" pitchFamily="34" charset="0"/>
                <a:ea typeface="Cambria" pitchFamily="34" charset="-122"/>
                <a:cs typeface="Cambria" pitchFamily="34" charset="-120"/>
              </a:rPr>
              <a:t>AU Small Finance Bank, Jaipur</a:t>
            </a:r>
            <a:endParaRPr lang="en-US" sz="2600" dirty="0"/>
          </a:p>
        </p:txBody>
      </p:sp>
      <p:sp>
        <p:nvSpPr>
          <p:cNvPr id="7" name="Shape 5"/>
          <p:cNvSpPr/>
          <p:nvPr/>
        </p:nvSpPr>
        <p:spPr>
          <a:xfrm>
            <a:off x="777240" y="3154680"/>
            <a:ext cx="1371600" cy="32004"/>
          </a:xfrm>
          <a:prstGeom prst="rect">
            <a:avLst/>
          </a:prstGeom>
          <a:solidFill>
            <a:srgbClr val="F26522"/>
          </a:solidFill>
          <a:ln w="12700">
            <a:solidFill>
              <a:srgbClr val="F26522"/>
            </a:solidFill>
            <a:prstDash val="solid"/>
          </a:ln>
        </p:spPr>
      </p:sp>
      <p:sp>
        <p:nvSpPr>
          <p:cNvPr id="8" name="Text 6"/>
          <p:cNvSpPr txBox="1"/>
          <p:nvPr/>
        </p:nvSpPr>
        <p:spPr>
          <a:xfrm>
            <a:off x="777240" y="3456432"/>
            <a:ext cx="7315200" cy="3840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Malla Sampath Narayana</a:t>
            </a:r>
            <a:endParaRPr lang="en-US" sz="2000" dirty="0"/>
          </a:p>
        </p:txBody>
      </p:sp>
      <p:sp>
        <p:nvSpPr>
          <p:cNvPr id="9" name="Text 7"/>
          <p:cNvSpPr txBox="1"/>
          <p:nvPr/>
        </p:nvSpPr>
        <p:spPr>
          <a:xfrm>
            <a:off x="777240" y="3858768"/>
            <a:ext cx="7315200" cy="320040"/>
          </a:xfrm>
          <a:prstGeom prst="rect">
            <a:avLst/>
          </a:prstGeom>
          <a:noFill/>
          <a:ln/>
        </p:spPr>
        <p:txBody>
          <a:bodyPr wrap="square" lIns="0" tIns="0" rIns="0" bIns="0" rtlCol="0" anchor="ctr"/>
          <a:lstStyle/>
          <a:p>
            <a:pPr marL="0" indent="0">
              <a:buNone/>
            </a:pPr>
            <a:r>
              <a:rPr lang="en-US" sz="1500" dirty="0">
                <a:solidFill>
                  <a:srgbClr val="E2D9EF"/>
                </a:solidFill>
                <a:latin typeface="Calibri" pitchFamily="34" charset="0"/>
                <a:ea typeface="Calibri" pitchFamily="34" charset="-122"/>
                <a:cs typeface="Calibri" pitchFamily="34" charset="-120"/>
              </a:rPr>
              <a:t>Roll No. 22HS23010</a:t>
            </a:r>
            <a:endParaRPr lang="en-US" sz="1500" dirty="0"/>
          </a:p>
        </p:txBody>
      </p:sp>
      <p:sp>
        <p:nvSpPr>
          <p:cNvPr id="10" name="Text 8"/>
          <p:cNvSpPr txBox="1"/>
          <p:nvPr/>
        </p:nvSpPr>
        <p:spPr>
          <a:xfrm>
            <a:off x="777239" y="4572000"/>
            <a:ext cx="7018329" cy="868680"/>
          </a:xfrm>
          <a:prstGeom prst="rect">
            <a:avLst/>
          </a:prstGeom>
          <a:noFill/>
          <a:ln/>
        </p:spPr>
        <p:txBody>
          <a:bodyPr wrap="square" lIns="0" tIns="0" rIns="0" bIns="0" rtlCol="0" anchor="ctr"/>
          <a:lstStyle/>
          <a:p>
            <a:pPr marL="0" indent="0">
              <a:lnSpc>
                <a:spcPts val="2000"/>
              </a:lnSpc>
              <a:buNone/>
            </a:pPr>
            <a:r>
              <a:rPr lang="en-US" sz="1300" dirty="0">
                <a:solidFill>
                  <a:srgbClr val="E2D9EF"/>
                </a:solidFill>
                <a:latin typeface="Calibri" pitchFamily="34" charset="0"/>
                <a:ea typeface="Calibri" pitchFamily="34" charset="-122"/>
                <a:cs typeface="Calibri" pitchFamily="34" charset="-120"/>
              </a:rPr>
              <a:t>Department of Humanities and Social Sciences</a:t>
            </a:r>
            <a:endParaRPr lang="en-US" sz="1300" dirty="0"/>
          </a:p>
          <a:p>
            <a:pPr marL="0" indent="0">
              <a:lnSpc>
                <a:spcPts val="2000"/>
              </a:lnSpc>
              <a:buNone/>
            </a:pPr>
            <a:r>
              <a:rPr lang="en-US" sz="1300" dirty="0">
                <a:solidFill>
                  <a:srgbClr val="E2D9EF"/>
                </a:solidFill>
                <a:latin typeface="Calibri" pitchFamily="34" charset="0"/>
                <a:ea typeface="Calibri" pitchFamily="34" charset="-122"/>
                <a:cs typeface="Calibri" pitchFamily="34" charset="-120"/>
              </a:rPr>
              <a:t>Indian Institute of Technology Kharagpur, West Bengal</a:t>
            </a:r>
            <a:endParaRPr lang="en-US" sz="1300" dirty="0"/>
          </a:p>
        </p:txBody>
      </p:sp>
      <p:pic>
        <p:nvPicPr>
          <p:cNvPr id="22" name="Picture 21" descr="AU Small Finance Bank - Wikipedia">
            <a:extLst>
              <a:ext uri="{FF2B5EF4-FFF2-40B4-BE49-F238E27FC236}">
                <a16:creationId xmlns:a16="http://schemas.microsoft.com/office/drawing/2014/main" id="{8B8455D0-6D29-9E7E-4E79-7DF21D321836}"/>
              </a:ext>
            </a:extLst>
          </p:cNvPr>
          <p:cNvPicPr>
            <a:picLocks noChangeAspect="1"/>
          </p:cNvPicPr>
          <p:nvPr/>
        </p:nvPicPr>
        <p:blipFill>
          <a:blip r:embed="rId3"/>
          <a:stretch>
            <a:fillRect/>
          </a:stretch>
        </p:blipFill>
        <p:spPr>
          <a:xfrm>
            <a:off x="7059997" y="2999232"/>
            <a:ext cx="3469778" cy="19019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8778240" cy="566928"/>
          </a:xfrm>
          <a:prstGeom prst="rect">
            <a:avLst/>
          </a:prstGeom>
          <a:noFill/>
          <a:ln/>
        </p:spPr>
        <p:txBody>
          <a:bodyPr wrap="square" lIns="0" tIns="0" rIns="0" bIns="0" rtlCol="0" anchor="ctr"/>
          <a:lstStyle/>
          <a:p>
            <a:pPr marL="0" indent="0">
              <a:buNone/>
            </a:pPr>
            <a:r>
              <a:rPr lang="en-US" sz="3400" b="1" dirty="0">
                <a:solidFill>
                  <a:srgbClr val="3B1E5F"/>
                </a:solidFill>
                <a:latin typeface="Cambria" pitchFamily="34" charset="0"/>
                <a:ea typeface="Cambria" pitchFamily="34" charset="-122"/>
                <a:cs typeface="Cambria" pitchFamily="34" charset="-120"/>
              </a:rPr>
              <a:t>Overview</a:t>
            </a:r>
            <a:endParaRPr lang="en-US" sz="3400" dirty="0"/>
          </a:p>
        </p:txBody>
      </p:sp>
      <p:sp>
        <p:nvSpPr>
          <p:cNvPr id="3" name="Text 1"/>
          <p:cNvSpPr txBox="1"/>
          <p:nvPr/>
        </p:nvSpPr>
        <p:spPr>
          <a:xfrm>
            <a:off x="594360" y="981386"/>
            <a:ext cx="10058400" cy="320040"/>
          </a:xfrm>
          <a:prstGeom prst="rect">
            <a:avLst/>
          </a:prstGeom>
          <a:noFill/>
          <a:ln/>
        </p:spPr>
        <p:txBody>
          <a:bodyPr wrap="square" lIns="0" tIns="0" rIns="0" bIns="0" rtlCol="0" anchor="ctr"/>
          <a:lstStyle/>
          <a:p>
            <a:pPr marL="0" indent="0">
              <a:buNone/>
            </a:pPr>
            <a:r>
              <a:rPr lang="en-US" sz="1400" i="1" dirty="0">
                <a:solidFill>
                  <a:srgbClr val="6E6880"/>
                </a:solidFill>
                <a:latin typeface="Calibri" pitchFamily="34" charset="0"/>
                <a:ea typeface="Calibri" pitchFamily="34" charset="-122"/>
                <a:cs typeface="Calibri" pitchFamily="34" charset="-120"/>
              </a:rPr>
              <a:t>The internship, the team and the organisation</a:t>
            </a:r>
            <a:endParaRPr lang="en-US" sz="1400" dirty="0"/>
          </a:p>
        </p:txBody>
      </p:sp>
      <p:sp>
        <p:nvSpPr>
          <p:cNvPr id="4" name="Text 2"/>
          <p:cNvSpPr txBox="1"/>
          <p:nvPr/>
        </p:nvSpPr>
        <p:spPr>
          <a:xfrm>
            <a:off x="594360" y="1572768"/>
            <a:ext cx="5212080" cy="301752"/>
          </a:xfrm>
          <a:prstGeom prst="rect">
            <a:avLst/>
          </a:prstGeom>
          <a:noFill/>
          <a:ln/>
        </p:spPr>
        <p:txBody>
          <a:bodyPr wrap="square" lIns="0" tIns="0" rIns="0" bIns="0" rtlCol="0" anchor="ctr"/>
          <a:lstStyle/>
          <a:p>
            <a:pPr marL="0" indent="0">
              <a:buNone/>
            </a:pPr>
            <a:r>
              <a:rPr lang="en-US" sz="1600" b="1" dirty="0">
                <a:solidFill>
                  <a:srgbClr val="F26522"/>
                </a:solidFill>
                <a:latin typeface="Calibri" pitchFamily="34" charset="0"/>
                <a:ea typeface="Calibri" pitchFamily="34" charset="-122"/>
                <a:cs typeface="Calibri" pitchFamily="34" charset="-120"/>
              </a:rPr>
              <a:t>Where I worked</a:t>
            </a:r>
            <a:endParaRPr lang="en-US" sz="1600" dirty="0"/>
          </a:p>
        </p:txBody>
      </p:sp>
      <p:sp>
        <p:nvSpPr>
          <p:cNvPr id="5" name="Text 3"/>
          <p:cNvSpPr txBox="1"/>
          <p:nvPr/>
        </p:nvSpPr>
        <p:spPr>
          <a:xfrm>
            <a:off x="594360" y="1993392"/>
            <a:ext cx="5212080" cy="2286000"/>
          </a:xfrm>
          <a:prstGeom prst="rect">
            <a:avLst/>
          </a:prstGeom>
          <a:noFill/>
          <a:ln/>
        </p:spPr>
        <p:txBody>
          <a:bodyPr wrap="square" lIns="0" tIns="0" rIns="0" bIns="0" rtlCol="0" anchor="ctr"/>
          <a:lstStyle/>
          <a:p>
            <a:pPr marL="0" indent="0">
              <a:lnSpc>
                <a:spcPts val="1800"/>
              </a:lnSpc>
              <a:buNone/>
            </a:pPr>
            <a:r>
              <a:rPr lang="en-US" sz="1300" b="1" dirty="0">
                <a:solidFill>
                  <a:srgbClr val="26262E"/>
                </a:solidFill>
                <a:latin typeface="Calibri" pitchFamily="34" charset="0"/>
                <a:ea typeface="Calibri" pitchFamily="34" charset="-122"/>
                <a:cs typeface="Calibri" pitchFamily="34" charset="-120"/>
              </a:rPr>
              <a:t>Office of the Managing Director &amp; CEO</a:t>
            </a:r>
            <a:endParaRPr lang="en-US" sz="1300" dirty="0"/>
          </a:p>
          <a:p>
            <a:pPr marL="0" indent="0">
              <a:lnSpc>
                <a:spcPts val="1800"/>
              </a:lnSpc>
              <a:buNone/>
            </a:pPr>
            <a:r>
              <a:rPr lang="en-US" sz="1300" dirty="0">
                <a:solidFill>
                  <a:srgbClr val="26262E"/>
                </a:solidFill>
                <a:latin typeface="Calibri" pitchFamily="34" charset="0"/>
                <a:ea typeface="Calibri" pitchFamily="34" charset="-122"/>
                <a:cs typeface="Calibri" pitchFamily="34" charset="-120"/>
              </a:rPr>
              <a:t>Centre of Excellence (CoE) — a newly formed team set up to identify, prioritise and scale high-impact AI and transformation initiatives across the Bank.</a:t>
            </a:r>
            <a:endParaRPr lang="en-US" sz="1300" dirty="0"/>
          </a:p>
          <a:p>
            <a:pPr marL="0" indent="0">
              <a:lnSpc>
                <a:spcPts val="1800"/>
              </a:lnSpc>
              <a:buNone/>
            </a:pPr>
            <a:r>
              <a:rPr lang="en-US" sz="800" dirty="0">
                <a:solidFill>
                  <a:srgbClr val="26262E"/>
                </a:solidFill>
                <a:latin typeface="Calibri" pitchFamily="34" charset="0"/>
                <a:ea typeface="Calibri" pitchFamily="34" charset="-122"/>
                <a:cs typeface="Calibri" pitchFamily="34" charset="-120"/>
              </a:rPr>
              <a:t> </a:t>
            </a:r>
            <a:endParaRPr lang="en-US" sz="1300" dirty="0"/>
          </a:p>
          <a:p>
            <a:pPr marL="0" indent="0">
              <a:lnSpc>
                <a:spcPts val="1800"/>
              </a:lnSpc>
              <a:buNone/>
            </a:pPr>
            <a:r>
              <a:rPr lang="en-US" sz="1300" dirty="0">
                <a:solidFill>
                  <a:srgbClr val="26262E"/>
                </a:solidFill>
                <a:latin typeface="Calibri" pitchFamily="34" charset="0"/>
                <a:ea typeface="Calibri" pitchFamily="34" charset="-122"/>
                <a:cs typeface="Calibri" pitchFamily="34" charset="-120"/>
              </a:rPr>
              <a:t>No narrow, fixed job description. The work changed with the priorities of senior management on any given day, giving unusually close visibility into how decisions are framed, debated and executed at the top of a large regulated institution.</a:t>
            </a:r>
            <a:endParaRPr lang="en-US" sz="1300" dirty="0"/>
          </a:p>
        </p:txBody>
      </p:sp>
      <p:sp>
        <p:nvSpPr>
          <p:cNvPr id="6" name="Shape 4"/>
          <p:cNvSpPr/>
          <p:nvPr/>
        </p:nvSpPr>
        <p:spPr>
          <a:xfrm>
            <a:off x="594360" y="4526280"/>
            <a:ext cx="420624" cy="420624"/>
          </a:xfrm>
          <a:prstGeom prst="ellipse">
            <a:avLst/>
          </a:prstGeom>
          <a:solidFill>
            <a:srgbClr val="3B1E5F"/>
          </a:solidFill>
          <a:ln w="12700">
            <a:solidFill>
              <a:srgbClr val="3B1E5F"/>
            </a:solidFill>
            <a:prstDash val="solid"/>
          </a:ln>
        </p:spPr>
      </p:sp>
      <p:pic>
        <p:nvPicPr>
          <p:cNvPr id="7" name="Image 0" descr="preencoded.png"/>
          <p:cNvPicPr>
            <a:picLocks noChangeAspect="1"/>
          </p:cNvPicPr>
          <p:nvPr/>
        </p:nvPicPr>
        <p:blipFill>
          <a:blip r:embed="rId3"/>
          <a:stretch>
            <a:fillRect/>
          </a:stretch>
        </p:blipFill>
        <p:spPr>
          <a:xfrm>
            <a:off x="699516" y="4631436"/>
            <a:ext cx="210312" cy="210312"/>
          </a:xfrm>
          <a:prstGeom prst="rect">
            <a:avLst/>
          </a:prstGeom>
        </p:spPr>
      </p:pic>
      <p:sp>
        <p:nvSpPr>
          <p:cNvPr id="8" name="Text 5"/>
          <p:cNvSpPr txBox="1"/>
          <p:nvPr/>
        </p:nvSpPr>
        <p:spPr>
          <a:xfrm>
            <a:off x="1143000" y="4498848"/>
            <a:ext cx="4663440" cy="256032"/>
          </a:xfrm>
          <a:prstGeom prst="rect">
            <a:avLst/>
          </a:prstGeom>
          <a:noFill/>
          <a:ln/>
        </p:spPr>
        <p:txBody>
          <a:bodyPr wrap="square" lIns="0" tIns="0" rIns="0" bIns="0" rtlCol="0" anchor="ctr"/>
          <a:lstStyle/>
          <a:p>
            <a:pPr marL="0" indent="0">
              <a:buNone/>
            </a:pPr>
            <a:r>
              <a:rPr lang="en-US" sz="1350" b="1" dirty="0">
                <a:solidFill>
                  <a:srgbClr val="3B1E5F"/>
                </a:solidFill>
                <a:latin typeface="Calibri" pitchFamily="34" charset="0"/>
                <a:ea typeface="Calibri" pitchFamily="34" charset="-122"/>
                <a:cs typeface="Calibri" pitchFamily="34" charset="-120"/>
              </a:rPr>
              <a:t>Strategic exposure</a:t>
            </a:r>
            <a:endParaRPr lang="en-US" sz="1350" dirty="0"/>
          </a:p>
        </p:txBody>
      </p:sp>
      <p:sp>
        <p:nvSpPr>
          <p:cNvPr id="9" name="Text 6"/>
          <p:cNvSpPr txBox="1"/>
          <p:nvPr/>
        </p:nvSpPr>
        <p:spPr>
          <a:xfrm>
            <a:off x="1143000" y="4745736"/>
            <a:ext cx="4663440" cy="256032"/>
          </a:xfrm>
          <a:prstGeom prst="rect">
            <a:avLst/>
          </a:prstGeom>
          <a:noFill/>
          <a:ln/>
        </p:spPr>
        <p:txBody>
          <a:bodyPr wrap="square" lIns="0" tIns="0" rIns="0" bIns="0" rtlCol="0" anchor="ctr"/>
          <a:lstStyle/>
          <a:p>
            <a:pPr marL="0" indent="0">
              <a:buNone/>
            </a:pPr>
            <a:r>
              <a:rPr lang="en-US" sz="1200" dirty="0">
                <a:solidFill>
                  <a:srgbClr val="6E6880"/>
                </a:solidFill>
                <a:latin typeface="Calibri" pitchFamily="34" charset="0"/>
                <a:ea typeface="Calibri" pitchFamily="34" charset="-122"/>
                <a:cs typeface="Calibri" pitchFamily="34" charset="-120"/>
              </a:rPr>
              <a:t>Discussions with the Deputy CEO, COO, CIO and CFO</a:t>
            </a:r>
            <a:endParaRPr lang="en-US" sz="1200" dirty="0"/>
          </a:p>
        </p:txBody>
      </p:sp>
      <p:sp>
        <p:nvSpPr>
          <p:cNvPr id="10" name="Shape 7"/>
          <p:cNvSpPr/>
          <p:nvPr/>
        </p:nvSpPr>
        <p:spPr>
          <a:xfrm>
            <a:off x="594360" y="5166360"/>
            <a:ext cx="420624" cy="420624"/>
          </a:xfrm>
          <a:prstGeom prst="ellipse">
            <a:avLst/>
          </a:prstGeom>
          <a:solidFill>
            <a:srgbClr val="3B1E5F"/>
          </a:solidFill>
          <a:ln w="12700">
            <a:solidFill>
              <a:srgbClr val="3B1E5F"/>
            </a:solidFill>
            <a:prstDash val="solid"/>
          </a:ln>
        </p:spPr>
      </p:sp>
      <p:pic>
        <p:nvPicPr>
          <p:cNvPr id="11" name="Image 1" descr="preencoded.png"/>
          <p:cNvPicPr>
            <a:picLocks noChangeAspect="1"/>
          </p:cNvPicPr>
          <p:nvPr/>
        </p:nvPicPr>
        <p:blipFill>
          <a:blip r:embed="rId4"/>
          <a:stretch>
            <a:fillRect/>
          </a:stretch>
        </p:blipFill>
        <p:spPr>
          <a:xfrm>
            <a:off x="699516" y="5271516"/>
            <a:ext cx="210312" cy="210312"/>
          </a:xfrm>
          <a:prstGeom prst="rect">
            <a:avLst/>
          </a:prstGeom>
        </p:spPr>
      </p:pic>
      <p:sp>
        <p:nvSpPr>
          <p:cNvPr id="12" name="Text 8"/>
          <p:cNvSpPr txBox="1"/>
          <p:nvPr/>
        </p:nvSpPr>
        <p:spPr>
          <a:xfrm>
            <a:off x="1143000" y="5138928"/>
            <a:ext cx="4663440" cy="256032"/>
          </a:xfrm>
          <a:prstGeom prst="rect">
            <a:avLst/>
          </a:prstGeom>
          <a:noFill/>
          <a:ln/>
        </p:spPr>
        <p:txBody>
          <a:bodyPr wrap="square" lIns="0" tIns="0" rIns="0" bIns="0" rtlCol="0" anchor="ctr"/>
          <a:lstStyle/>
          <a:p>
            <a:pPr marL="0" indent="0">
              <a:buNone/>
            </a:pPr>
            <a:r>
              <a:rPr lang="en-US" sz="1350" b="1" dirty="0">
                <a:solidFill>
                  <a:srgbClr val="3B1E5F"/>
                </a:solidFill>
                <a:latin typeface="Calibri" pitchFamily="34" charset="0"/>
                <a:ea typeface="Calibri" pitchFamily="34" charset="-122"/>
                <a:cs typeface="Calibri" pitchFamily="34" charset="-120"/>
              </a:rPr>
              <a:t>Analytical exposure</a:t>
            </a:r>
            <a:endParaRPr lang="en-US" sz="1350" dirty="0"/>
          </a:p>
        </p:txBody>
      </p:sp>
      <p:sp>
        <p:nvSpPr>
          <p:cNvPr id="13" name="Text 9"/>
          <p:cNvSpPr txBox="1"/>
          <p:nvPr/>
        </p:nvSpPr>
        <p:spPr>
          <a:xfrm>
            <a:off x="1143000" y="5385816"/>
            <a:ext cx="4663440" cy="256032"/>
          </a:xfrm>
          <a:prstGeom prst="rect">
            <a:avLst/>
          </a:prstGeom>
          <a:noFill/>
          <a:ln/>
        </p:spPr>
        <p:txBody>
          <a:bodyPr wrap="square" lIns="0" tIns="0" rIns="0" bIns="0" rtlCol="0" anchor="ctr"/>
          <a:lstStyle/>
          <a:p>
            <a:pPr marL="0" indent="0">
              <a:buNone/>
            </a:pPr>
            <a:r>
              <a:rPr lang="en-US" sz="1200" dirty="0">
                <a:solidFill>
                  <a:srgbClr val="6E6880"/>
                </a:solidFill>
                <a:latin typeface="Calibri" pitchFamily="34" charset="0"/>
                <a:ea typeface="Calibri" pitchFamily="34" charset="-122"/>
                <a:cs typeface="Calibri" pitchFamily="34" charset="-120"/>
              </a:rPr>
              <a:t>Large datasets in Excel and Advanced Excel</a:t>
            </a:r>
            <a:endParaRPr lang="en-US" sz="1200" dirty="0"/>
          </a:p>
        </p:txBody>
      </p:sp>
      <p:sp>
        <p:nvSpPr>
          <p:cNvPr id="14" name="Shape 10"/>
          <p:cNvSpPr/>
          <p:nvPr/>
        </p:nvSpPr>
        <p:spPr>
          <a:xfrm>
            <a:off x="594360" y="5806440"/>
            <a:ext cx="420624" cy="420624"/>
          </a:xfrm>
          <a:prstGeom prst="ellipse">
            <a:avLst/>
          </a:prstGeom>
          <a:solidFill>
            <a:srgbClr val="3B1E5F"/>
          </a:solidFill>
          <a:ln w="12700">
            <a:solidFill>
              <a:srgbClr val="3B1E5F"/>
            </a:solidFill>
            <a:prstDash val="solid"/>
          </a:ln>
        </p:spPr>
      </p:sp>
      <p:pic>
        <p:nvPicPr>
          <p:cNvPr id="15" name="Image 2" descr="preencoded.png"/>
          <p:cNvPicPr>
            <a:picLocks noChangeAspect="1"/>
          </p:cNvPicPr>
          <p:nvPr/>
        </p:nvPicPr>
        <p:blipFill>
          <a:blip r:embed="rId5"/>
          <a:stretch>
            <a:fillRect/>
          </a:stretch>
        </p:blipFill>
        <p:spPr>
          <a:xfrm>
            <a:off x="699516" y="5911596"/>
            <a:ext cx="210312" cy="210312"/>
          </a:xfrm>
          <a:prstGeom prst="rect">
            <a:avLst/>
          </a:prstGeom>
        </p:spPr>
      </p:pic>
      <p:sp>
        <p:nvSpPr>
          <p:cNvPr id="16" name="Text 11"/>
          <p:cNvSpPr txBox="1"/>
          <p:nvPr/>
        </p:nvSpPr>
        <p:spPr>
          <a:xfrm>
            <a:off x="1143000" y="5779008"/>
            <a:ext cx="4663440" cy="256032"/>
          </a:xfrm>
          <a:prstGeom prst="rect">
            <a:avLst/>
          </a:prstGeom>
          <a:noFill/>
          <a:ln/>
        </p:spPr>
        <p:txBody>
          <a:bodyPr wrap="square" lIns="0" tIns="0" rIns="0" bIns="0" rtlCol="0" anchor="ctr"/>
          <a:lstStyle/>
          <a:p>
            <a:pPr marL="0" indent="0">
              <a:buNone/>
            </a:pPr>
            <a:r>
              <a:rPr lang="en-US" sz="1350" b="1" dirty="0">
                <a:solidFill>
                  <a:srgbClr val="3B1E5F"/>
                </a:solidFill>
                <a:latin typeface="Calibri" pitchFamily="34" charset="0"/>
                <a:ea typeface="Calibri" pitchFamily="34" charset="-122"/>
                <a:cs typeface="Calibri" pitchFamily="34" charset="-120"/>
              </a:rPr>
              <a:t>Technology exposure</a:t>
            </a:r>
            <a:endParaRPr lang="en-US" sz="1350" dirty="0"/>
          </a:p>
        </p:txBody>
      </p:sp>
      <p:sp>
        <p:nvSpPr>
          <p:cNvPr id="17" name="Text 12"/>
          <p:cNvSpPr txBox="1"/>
          <p:nvPr/>
        </p:nvSpPr>
        <p:spPr>
          <a:xfrm>
            <a:off x="1143000" y="6025896"/>
            <a:ext cx="4663440" cy="256032"/>
          </a:xfrm>
          <a:prstGeom prst="rect">
            <a:avLst/>
          </a:prstGeom>
          <a:noFill/>
          <a:ln/>
        </p:spPr>
        <p:txBody>
          <a:bodyPr wrap="square" lIns="0" tIns="0" rIns="0" bIns="0" rtlCol="0" anchor="ctr"/>
          <a:lstStyle/>
          <a:p>
            <a:pPr marL="0" indent="0">
              <a:buNone/>
            </a:pPr>
            <a:r>
              <a:rPr lang="en-US" sz="1200" dirty="0">
                <a:solidFill>
                  <a:srgbClr val="6E6880"/>
                </a:solidFill>
                <a:latin typeface="Calibri" pitchFamily="34" charset="0"/>
                <a:ea typeface="Calibri" pitchFamily="34" charset="-122"/>
                <a:cs typeface="Calibri" pitchFamily="34" charset="-120"/>
              </a:rPr>
              <a:t>RAG, agentic AI and use-case feasibility</a:t>
            </a:r>
            <a:endParaRPr lang="en-US" sz="1200" dirty="0"/>
          </a:p>
        </p:txBody>
      </p:sp>
      <p:sp>
        <p:nvSpPr>
          <p:cNvPr id="18" name="Shape 13"/>
          <p:cNvSpPr/>
          <p:nvPr/>
        </p:nvSpPr>
        <p:spPr>
          <a:xfrm>
            <a:off x="6355080" y="1572768"/>
            <a:ext cx="5212080" cy="4617720"/>
          </a:xfrm>
          <a:prstGeom prst="roundRect">
            <a:avLst>
              <a:gd name="adj" fmla="val 1188"/>
            </a:avLst>
          </a:prstGeom>
          <a:solidFill>
            <a:srgbClr val="F0EBF7"/>
          </a:solidFill>
          <a:ln w="12700">
            <a:solidFill>
              <a:srgbClr val="E2D9EF"/>
            </a:solidFill>
            <a:prstDash val="solid"/>
          </a:ln>
        </p:spPr>
      </p:sp>
      <p:sp>
        <p:nvSpPr>
          <p:cNvPr id="19" name="Text 14"/>
          <p:cNvSpPr txBox="1"/>
          <p:nvPr/>
        </p:nvSpPr>
        <p:spPr>
          <a:xfrm>
            <a:off x="6675120" y="1828800"/>
            <a:ext cx="4572000" cy="320040"/>
          </a:xfrm>
          <a:prstGeom prst="rect">
            <a:avLst/>
          </a:prstGeom>
          <a:noFill/>
          <a:ln/>
        </p:spPr>
        <p:txBody>
          <a:bodyPr wrap="square" lIns="0" tIns="0" rIns="0" bIns="0" rtlCol="0" anchor="ctr"/>
          <a:lstStyle/>
          <a:p>
            <a:pPr marL="0" indent="0">
              <a:buNone/>
            </a:pPr>
            <a:r>
              <a:rPr lang="en-US" sz="1900" b="1" dirty="0">
                <a:solidFill>
                  <a:srgbClr val="3B1E5F"/>
                </a:solidFill>
                <a:latin typeface="Cambria" pitchFamily="34" charset="0"/>
                <a:ea typeface="Cambria" pitchFamily="34" charset="-122"/>
                <a:cs typeface="Cambria" pitchFamily="34" charset="-120"/>
              </a:rPr>
              <a:t>AU Small Finance Bank Limited</a:t>
            </a:r>
            <a:endParaRPr lang="en-US" sz="1900" dirty="0"/>
          </a:p>
        </p:txBody>
      </p:sp>
      <p:sp>
        <p:nvSpPr>
          <p:cNvPr id="20" name="Text 15"/>
          <p:cNvSpPr txBox="1"/>
          <p:nvPr/>
        </p:nvSpPr>
        <p:spPr>
          <a:xfrm>
            <a:off x="6675120" y="2157984"/>
            <a:ext cx="4572000" cy="457200"/>
          </a:xfrm>
          <a:prstGeom prst="rect">
            <a:avLst/>
          </a:prstGeom>
          <a:noFill/>
          <a:ln/>
        </p:spPr>
        <p:txBody>
          <a:bodyPr wrap="square" lIns="0" tIns="0" rIns="0" bIns="0" rtlCol="0" anchor="ctr"/>
          <a:lstStyle/>
          <a:p>
            <a:pPr marL="0" indent="0">
              <a:buNone/>
            </a:pPr>
            <a:r>
              <a:rPr lang="en-US" sz="1200" i="1" dirty="0">
                <a:solidFill>
                  <a:srgbClr val="6E6880"/>
                </a:solidFill>
                <a:latin typeface="Calibri" pitchFamily="34" charset="0"/>
                <a:ea typeface="Calibri" pitchFamily="34" charset="-122"/>
                <a:cs typeface="Calibri" pitchFamily="34" charset="-120"/>
              </a:rPr>
              <a:t>India's largest small finance bank, headquartered in Jaipur, Rajasthan</a:t>
            </a:r>
            <a:endParaRPr lang="en-US" sz="1200" dirty="0"/>
          </a:p>
        </p:txBody>
      </p:sp>
      <p:sp>
        <p:nvSpPr>
          <p:cNvPr id="21" name="Text 16"/>
          <p:cNvSpPr txBox="1"/>
          <p:nvPr/>
        </p:nvSpPr>
        <p:spPr>
          <a:xfrm>
            <a:off x="6675120" y="2743200"/>
            <a:ext cx="2148840" cy="420624"/>
          </a:xfrm>
          <a:prstGeom prst="rect">
            <a:avLst/>
          </a:prstGeom>
          <a:noFill/>
          <a:ln/>
        </p:spPr>
        <p:txBody>
          <a:bodyPr wrap="square" lIns="0" tIns="0" rIns="0" bIns="0" rtlCol="0" anchor="ctr"/>
          <a:lstStyle/>
          <a:p>
            <a:pPr marL="0" indent="0">
              <a:buNone/>
            </a:pPr>
            <a:r>
              <a:rPr lang="en-US" sz="3000" b="1" dirty="0">
                <a:solidFill>
                  <a:srgbClr val="F26522"/>
                </a:solidFill>
                <a:latin typeface="Cambria" pitchFamily="34" charset="0"/>
                <a:ea typeface="Cambria" pitchFamily="34" charset="-122"/>
                <a:cs typeface="Cambria" pitchFamily="34" charset="-120"/>
              </a:rPr>
              <a:t>2,790</a:t>
            </a:r>
            <a:endParaRPr lang="en-US" sz="3000" dirty="0"/>
          </a:p>
        </p:txBody>
      </p:sp>
      <p:sp>
        <p:nvSpPr>
          <p:cNvPr id="22" name="Text 17"/>
          <p:cNvSpPr txBox="1"/>
          <p:nvPr/>
        </p:nvSpPr>
        <p:spPr>
          <a:xfrm>
            <a:off x="6675120" y="3145536"/>
            <a:ext cx="2148840" cy="237744"/>
          </a:xfrm>
          <a:prstGeom prst="rect">
            <a:avLst/>
          </a:prstGeom>
          <a:noFill/>
          <a:ln/>
        </p:spPr>
        <p:txBody>
          <a:bodyPr wrap="square" lIns="0" tIns="0" rIns="0" bIns="0" rtlCol="0" anchor="ctr"/>
          <a:lstStyle/>
          <a:p>
            <a:pPr marL="0" indent="0">
              <a:buNone/>
            </a:pPr>
            <a:r>
              <a:rPr lang="en-US" sz="1150" dirty="0">
                <a:solidFill>
                  <a:srgbClr val="6E6880"/>
                </a:solidFill>
                <a:latin typeface="Calibri" pitchFamily="34" charset="0"/>
                <a:ea typeface="Calibri" pitchFamily="34" charset="-122"/>
                <a:cs typeface="Calibri" pitchFamily="34" charset="-120"/>
              </a:rPr>
              <a:t>touchpoints</a:t>
            </a:r>
            <a:endParaRPr lang="en-US" sz="1150" dirty="0"/>
          </a:p>
        </p:txBody>
      </p:sp>
      <p:sp>
        <p:nvSpPr>
          <p:cNvPr id="23" name="Text 18"/>
          <p:cNvSpPr txBox="1"/>
          <p:nvPr/>
        </p:nvSpPr>
        <p:spPr>
          <a:xfrm>
            <a:off x="9006840" y="2743200"/>
            <a:ext cx="2148840" cy="420624"/>
          </a:xfrm>
          <a:prstGeom prst="rect">
            <a:avLst/>
          </a:prstGeom>
          <a:noFill/>
          <a:ln/>
        </p:spPr>
        <p:txBody>
          <a:bodyPr wrap="square" lIns="0" tIns="0" rIns="0" bIns="0" rtlCol="0" anchor="ctr"/>
          <a:lstStyle/>
          <a:p>
            <a:pPr marL="0" indent="0">
              <a:buNone/>
            </a:pPr>
            <a:r>
              <a:rPr lang="en-US" sz="3000" b="1" dirty="0">
                <a:solidFill>
                  <a:srgbClr val="F26522"/>
                </a:solidFill>
                <a:latin typeface="Cambria" pitchFamily="34" charset="0"/>
                <a:ea typeface="Cambria" pitchFamily="34" charset="-122"/>
                <a:cs typeface="Cambria" pitchFamily="34" charset="-120"/>
              </a:rPr>
              <a:t>1.1 Cr+</a:t>
            </a:r>
            <a:endParaRPr lang="en-US" sz="3000" dirty="0"/>
          </a:p>
        </p:txBody>
      </p:sp>
      <p:sp>
        <p:nvSpPr>
          <p:cNvPr id="24" name="Text 19"/>
          <p:cNvSpPr txBox="1"/>
          <p:nvPr/>
        </p:nvSpPr>
        <p:spPr>
          <a:xfrm>
            <a:off x="9006840" y="3145536"/>
            <a:ext cx="2148840" cy="237744"/>
          </a:xfrm>
          <a:prstGeom prst="rect">
            <a:avLst/>
          </a:prstGeom>
          <a:noFill/>
          <a:ln/>
        </p:spPr>
        <p:txBody>
          <a:bodyPr wrap="square" lIns="0" tIns="0" rIns="0" bIns="0" rtlCol="0" anchor="ctr"/>
          <a:lstStyle/>
          <a:p>
            <a:pPr marL="0" indent="0">
              <a:buNone/>
            </a:pPr>
            <a:r>
              <a:rPr lang="en-US" sz="1150" dirty="0">
                <a:solidFill>
                  <a:srgbClr val="6E6880"/>
                </a:solidFill>
                <a:latin typeface="Calibri" pitchFamily="34" charset="0"/>
                <a:ea typeface="Calibri" pitchFamily="34" charset="-122"/>
                <a:cs typeface="Calibri" pitchFamily="34" charset="-120"/>
              </a:rPr>
              <a:t>customers</a:t>
            </a:r>
            <a:endParaRPr lang="en-US" sz="1150" dirty="0"/>
          </a:p>
        </p:txBody>
      </p:sp>
      <p:sp>
        <p:nvSpPr>
          <p:cNvPr id="25" name="Text 20"/>
          <p:cNvSpPr txBox="1"/>
          <p:nvPr/>
        </p:nvSpPr>
        <p:spPr>
          <a:xfrm>
            <a:off x="6675120" y="3584448"/>
            <a:ext cx="2148840" cy="420624"/>
          </a:xfrm>
          <a:prstGeom prst="rect">
            <a:avLst/>
          </a:prstGeom>
          <a:noFill/>
          <a:ln/>
        </p:spPr>
        <p:txBody>
          <a:bodyPr wrap="square" lIns="0" tIns="0" rIns="0" bIns="0" rtlCol="0" anchor="ctr"/>
          <a:lstStyle/>
          <a:p>
            <a:pPr marL="0" indent="0">
              <a:buNone/>
            </a:pPr>
            <a:r>
              <a:rPr lang="en-US" sz="3000" b="1" dirty="0">
                <a:solidFill>
                  <a:srgbClr val="F26522"/>
                </a:solidFill>
                <a:latin typeface="Cambria" pitchFamily="34" charset="0"/>
                <a:ea typeface="Cambria" pitchFamily="34" charset="-122"/>
                <a:cs typeface="Cambria" pitchFamily="34" charset="-120"/>
              </a:rPr>
              <a:t>60,000+</a:t>
            </a:r>
            <a:endParaRPr lang="en-US" sz="3000" dirty="0"/>
          </a:p>
        </p:txBody>
      </p:sp>
      <p:sp>
        <p:nvSpPr>
          <p:cNvPr id="26" name="Text 21"/>
          <p:cNvSpPr txBox="1"/>
          <p:nvPr/>
        </p:nvSpPr>
        <p:spPr>
          <a:xfrm>
            <a:off x="6675120" y="3986784"/>
            <a:ext cx="2148840" cy="237744"/>
          </a:xfrm>
          <a:prstGeom prst="rect">
            <a:avLst/>
          </a:prstGeom>
          <a:noFill/>
          <a:ln/>
        </p:spPr>
        <p:txBody>
          <a:bodyPr wrap="square" lIns="0" tIns="0" rIns="0" bIns="0" rtlCol="0" anchor="ctr"/>
          <a:lstStyle/>
          <a:p>
            <a:pPr marL="0" indent="0">
              <a:buNone/>
            </a:pPr>
            <a:r>
              <a:rPr lang="en-US" sz="1150" dirty="0">
                <a:solidFill>
                  <a:srgbClr val="6E6880"/>
                </a:solidFill>
                <a:latin typeface="Calibri" pitchFamily="34" charset="0"/>
                <a:ea typeface="Calibri" pitchFamily="34" charset="-122"/>
                <a:cs typeface="Calibri" pitchFamily="34" charset="-120"/>
              </a:rPr>
              <a:t>employees</a:t>
            </a:r>
            <a:endParaRPr lang="en-US" sz="1150" dirty="0"/>
          </a:p>
        </p:txBody>
      </p:sp>
      <p:sp>
        <p:nvSpPr>
          <p:cNvPr id="27" name="Text 22"/>
          <p:cNvSpPr txBox="1"/>
          <p:nvPr/>
        </p:nvSpPr>
        <p:spPr>
          <a:xfrm>
            <a:off x="9006840" y="3584448"/>
            <a:ext cx="2148840" cy="420624"/>
          </a:xfrm>
          <a:prstGeom prst="rect">
            <a:avLst/>
          </a:prstGeom>
          <a:noFill/>
          <a:ln/>
        </p:spPr>
        <p:txBody>
          <a:bodyPr wrap="square" lIns="0" tIns="0" rIns="0" bIns="0" rtlCol="0" anchor="ctr"/>
          <a:lstStyle/>
          <a:p>
            <a:pPr marL="0" indent="0">
              <a:buNone/>
            </a:pPr>
            <a:r>
              <a:rPr lang="en-US" sz="3000" b="1" dirty="0">
                <a:solidFill>
                  <a:srgbClr val="F26522"/>
                </a:solidFill>
                <a:latin typeface="Cambria" pitchFamily="34" charset="0"/>
                <a:ea typeface="Cambria" pitchFamily="34" charset="-122"/>
                <a:cs typeface="Cambria" pitchFamily="34" charset="-120"/>
              </a:rPr>
              <a:t>25 + 4</a:t>
            </a:r>
            <a:endParaRPr lang="en-US" sz="3000" dirty="0"/>
          </a:p>
        </p:txBody>
      </p:sp>
      <p:sp>
        <p:nvSpPr>
          <p:cNvPr id="28" name="Text 23"/>
          <p:cNvSpPr txBox="1"/>
          <p:nvPr/>
        </p:nvSpPr>
        <p:spPr>
          <a:xfrm>
            <a:off x="9006840" y="3986784"/>
            <a:ext cx="2148840" cy="237744"/>
          </a:xfrm>
          <a:prstGeom prst="rect">
            <a:avLst/>
          </a:prstGeom>
          <a:noFill/>
          <a:ln/>
        </p:spPr>
        <p:txBody>
          <a:bodyPr wrap="square" lIns="0" tIns="0" rIns="0" bIns="0" rtlCol="0" anchor="ctr"/>
          <a:lstStyle/>
          <a:p>
            <a:pPr marL="0" indent="0">
              <a:buNone/>
            </a:pPr>
            <a:r>
              <a:rPr lang="en-US" sz="1150" dirty="0">
                <a:solidFill>
                  <a:srgbClr val="6E6880"/>
                </a:solidFill>
                <a:latin typeface="Calibri" pitchFamily="34" charset="0"/>
                <a:ea typeface="Calibri" pitchFamily="34" charset="-122"/>
                <a:cs typeface="Calibri" pitchFamily="34" charset="-120"/>
              </a:rPr>
              <a:t>states &amp; UTs</a:t>
            </a:r>
            <a:endParaRPr lang="en-US" sz="1150" dirty="0"/>
          </a:p>
        </p:txBody>
      </p:sp>
      <p:sp>
        <p:nvSpPr>
          <p:cNvPr id="29" name="Text 24"/>
          <p:cNvSpPr txBox="1"/>
          <p:nvPr/>
        </p:nvSpPr>
        <p:spPr>
          <a:xfrm>
            <a:off x="6675120" y="4498848"/>
            <a:ext cx="4572000" cy="960120"/>
          </a:xfrm>
          <a:prstGeom prst="rect">
            <a:avLst/>
          </a:prstGeom>
          <a:noFill/>
          <a:ln/>
        </p:spPr>
        <p:txBody>
          <a:bodyPr wrap="square" lIns="0" tIns="0" rIns="0" bIns="0" rtlCol="0" anchor="ctr"/>
          <a:lstStyle/>
          <a:p>
            <a:pPr marL="0" indent="0">
              <a:lnSpc>
                <a:spcPts val="1700"/>
              </a:lnSpc>
              <a:buNone/>
            </a:pPr>
            <a:r>
              <a:rPr lang="en-US" sz="1200" b="1" dirty="0">
                <a:solidFill>
                  <a:srgbClr val="3B1E5F"/>
                </a:solidFill>
                <a:latin typeface="Calibri" pitchFamily="34" charset="0"/>
                <a:ea typeface="Calibri" pitchFamily="34" charset="-122"/>
                <a:cs typeface="Calibri" pitchFamily="34" charset="-120"/>
              </a:rPr>
              <a:t>1996  </a:t>
            </a:r>
            <a:r>
              <a:rPr lang="en-US" sz="1200" dirty="0">
                <a:solidFill>
                  <a:srgbClr val="26262E"/>
                </a:solidFill>
                <a:latin typeface="Calibri" pitchFamily="34" charset="0"/>
                <a:ea typeface="Calibri" pitchFamily="34" charset="-122"/>
                <a:cs typeface="Calibri" pitchFamily="34" charset="-120"/>
              </a:rPr>
              <a:t>Founded as NBFC 'AU Financiers'</a:t>
            </a:r>
            <a:endParaRPr lang="en-US" sz="1200" dirty="0"/>
          </a:p>
          <a:p>
            <a:pPr marL="0" indent="0">
              <a:lnSpc>
                <a:spcPts val="1700"/>
              </a:lnSpc>
              <a:buNone/>
            </a:pPr>
            <a:r>
              <a:rPr lang="en-US" sz="1200" b="1" dirty="0">
                <a:solidFill>
                  <a:srgbClr val="3B1E5F"/>
                </a:solidFill>
                <a:latin typeface="Calibri" pitchFamily="34" charset="0"/>
                <a:ea typeface="Calibri" pitchFamily="34" charset="-122"/>
                <a:cs typeface="Calibri" pitchFamily="34" charset="-120"/>
              </a:rPr>
              <a:t>2017  </a:t>
            </a:r>
            <a:r>
              <a:rPr lang="en-US" sz="1200" dirty="0">
                <a:solidFill>
                  <a:srgbClr val="26262E"/>
                </a:solidFill>
                <a:latin typeface="Calibri" pitchFamily="34" charset="0"/>
                <a:ea typeface="Calibri" pitchFamily="34" charset="-122"/>
                <a:cs typeface="Calibri" pitchFamily="34" charset="-120"/>
              </a:rPr>
              <a:t>Converted to a scheduled commercial SFB</a:t>
            </a:r>
            <a:endParaRPr lang="en-US" sz="1200" dirty="0"/>
          </a:p>
          <a:p>
            <a:pPr marL="0" indent="0">
              <a:lnSpc>
                <a:spcPts val="1700"/>
              </a:lnSpc>
              <a:buNone/>
            </a:pPr>
            <a:r>
              <a:rPr lang="en-US" sz="1200" b="1" dirty="0">
                <a:solidFill>
                  <a:srgbClr val="3B1E5F"/>
                </a:solidFill>
                <a:latin typeface="Calibri" pitchFamily="34" charset="0"/>
                <a:ea typeface="Calibri" pitchFamily="34" charset="-122"/>
                <a:cs typeface="Calibri" pitchFamily="34" charset="-120"/>
              </a:rPr>
              <a:t>Now   </a:t>
            </a:r>
            <a:r>
              <a:rPr lang="en-US" sz="1200" dirty="0">
                <a:solidFill>
                  <a:srgbClr val="26262E"/>
                </a:solidFill>
                <a:latin typeface="Calibri" pitchFamily="34" charset="0"/>
                <a:ea typeface="Calibri" pitchFamily="34" charset="-122"/>
                <a:cs typeface="Calibri" pitchFamily="34" charset="-120"/>
              </a:rPr>
              <a:t>First SFB with RBI in-principle approval to become a universal bank</a:t>
            </a:r>
            <a:endParaRPr lang="en-US" sz="1200" dirty="0"/>
          </a:p>
        </p:txBody>
      </p:sp>
      <p:sp>
        <p:nvSpPr>
          <p:cNvPr id="30" name="Text 25"/>
          <p:cNvSpPr txBox="1"/>
          <p:nvPr/>
        </p:nvSpPr>
        <p:spPr>
          <a:xfrm>
            <a:off x="6675120" y="5504688"/>
            <a:ext cx="4572000" cy="548640"/>
          </a:xfrm>
          <a:prstGeom prst="rect">
            <a:avLst/>
          </a:prstGeom>
          <a:noFill/>
          <a:ln/>
        </p:spPr>
        <p:txBody>
          <a:bodyPr wrap="square" lIns="0" tIns="0" rIns="0" bIns="0" rtlCol="0" anchor="ctr"/>
          <a:lstStyle/>
          <a:p>
            <a:pPr marL="0" indent="0">
              <a:lnSpc>
                <a:spcPts val="1500"/>
              </a:lnSpc>
              <a:buNone/>
            </a:pPr>
            <a:r>
              <a:rPr lang="en-US" sz="1150" dirty="0">
                <a:solidFill>
                  <a:srgbClr val="6E6880"/>
                </a:solidFill>
                <a:latin typeface="Calibri" pitchFamily="34" charset="0"/>
                <a:ea typeface="Calibri" pitchFamily="34" charset="-122"/>
                <a:cs typeface="Calibri" pitchFamily="34" charset="-120"/>
              </a:rPr>
              <a:t>Focus: retail financial services, vehicle finance, MSME and housing loans, serving underserved and unbanked segments. Listed on NSE and BSE.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8778240" cy="566928"/>
          </a:xfrm>
          <a:prstGeom prst="rect">
            <a:avLst/>
          </a:prstGeom>
          <a:noFill/>
          <a:ln/>
        </p:spPr>
        <p:txBody>
          <a:bodyPr wrap="square" lIns="0" tIns="0" rIns="0" bIns="0" rtlCol="0" anchor="ctr"/>
          <a:lstStyle/>
          <a:p>
            <a:pPr marL="0" indent="0">
              <a:buNone/>
            </a:pPr>
            <a:r>
              <a:rPr lang="en-US" sz="3400" b="1" dirty="0">
                <a:solidFill>
                  <a:srgbClr val="3B1E5F"/>
                </a:solidFill>
                <a:latin typeface="Cambria" pitchFamily="34" charset="0"/>
                <a:ea typeface="Cambria" pitchFamily="34" charset="-122"/>
                <a:cs typeface="Cambria" pitchFamily="34" charset="-120"/>
              </a:rPr>
              <a:t>Tasks Executed</a:t>
            </a:r>
            <a:endParaRPr lang="en-US" sz="3400" dirty="0"/>
          </a:p>
        </p:txBody>
      </p:sp>
      <p:sp>
        <p:nvSpPr>
          <p:cNvPr id="3" name="Text 1"/>
          <p:cNvSpPr txBox="1"/>
          <p:nvPr/>
        </p:nvSpPr>
        <p:spPr>
          <a:xfrm>
            <a:off x="594360" y="960120"/>
            <a:ext cx="10058400" cy="320040"/>
          </a:xfrm>
          <a:prstGeom prst="rect">
            <a:avLst/>
          </a:prstGeom>
          <a:noFill/>
          <a:ln/>
        </p:spPr>
        <p:txBody>
          <a:bodyPr wrap="square" lIns="0" tIns="0" rIns="0" bIns="0" rtlCol="0" anchor="ctr"/>
          <a:lstStyle/>
          <a:p>
            <a:pPr marL="0" indent="0">
              <a:buNone/>
            </a:pPr>
            <a:r>
              <a:rPr lang="en-US" sz="1400" i="1" dirty="0">
                <a:solidFill>
                  <a:srgbClr val="6E6880"/>
                </a:solidFill>
                <a:latin typeface="Calibri" pitchFamily="34" charset="0"/>
                <a:ea typeface="Calibri" pitchFamily="34" charset="-122"/>
                <a:cs typeface="Calibri" pitchFamily="34" charset="-120"/>
              </a:rPr>
              <a:t>Nine workstreams across AI, workforce policy and management reporting</a:t>
            </a:r>
            <a:endParaRPr lang="en-US" sz="1400" dirty="0"/>
          </a:p>
        </p:txBody>
      </p:sp>
      <p:sp>
        <p:nvSpPr>
          <p:cNvPr id="4" name="Shape 2"/>
          <p:cNvSpPr/>
          <p:nvPr/>
        </p:nvSpPr>
        <p:spPr>
          <a:xfrm>
            <a:off x="594360" y="1572768"/>
            <a:ext cx="5349240" cy="1024128"/>
          </a:xfrm>
          <a:prstGeom prst="roundRect">
            <a:avLst>
              <a:gd name="adj" fmla="val 6250"/>
            </a:avLst>
          </a:prstGeom>
          <a:solidFill>
            <a:srgbClr val="F0EBF7"/>
          </a:solidFill>
          <a:ln w="12700">
            <a:solidFill>
              <a:srgbClr val="E2D9EF"/>
            </a:solidFill>
            <a:prstDash val="solid"/>
          </a:ln>
        </p:spPr>
      </p:sp>
      <p:sp>
        <p:nvSpPr>
          <p:cNvPr id="5" name="Shape 3"/>
          <p:cNvSpPr/>
          <p:nvPr/>
        </p:nvSpPr>
        <p:spPr>
          <a:xfrm>
            <a:off x="777240" y="1746504"/>
            <a:ext cx="566928" cy="566928"/>
          </a:xfrm>
          <a:prstGeom prst="roundRect">
            <a:avLst>
              <a:gd name="adj" fmla="val 25806"/>
            </a:avLst>
          </a:prstGeom>
          <a:solidFill>
            <a:srgbClr val="3B1E5F"/>
          </a:solidFill>
          <a:ln w="12700">
            <a:solidFill>
              <a:srgbClr val="3B1E5F"/>
            </a:solidFill>
            <a:prstDash val="solid"/>
          </a:ln>
        </p:spPr>
      </p:sp>
      <p:sp>
        <p:nvSpPr>
          <p:cNvPr id="6" name="Text 4"/>
          <p:cNvSpPr txBox="1"/>
          <p:nvPr/>
        </p:nvSpPr>
        <p:spPr>
          <a:xfrm>
            <a:off x="777240" y="1847088"/>
            <a:ext cx="56692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01</a:t>
            </a:r>
            <a:endParaRPr lang="en-US" sz="1700" dirty="0"/>
          </a:p>
        </p:txBody>
      </p:sp>
      <p:sp>
        <p:nvSpPr>
          <p:cNvPr id="7" name="Text 5"/>
          <p:cNvSpPr txBox="1"/>
          <p:nvPr/>
        </p:nvSpPr>
        <p:spPr>
          <a:xfrm>
            <a:off x="1490472" y="1691640"/>
            <a:ext cx="4297680" cy="256032"/>
          </a:xfrm>
          <a:prstGeom prst="rect">
            <a:avLst/>
          </a:prstGeom>
          <a:noFill/>
          <a:ln/>
        </p:spPr>
        <p:txBody>
          <a:bodyPr wrap="square" lIns="0" tIns="0" rIns="0" bIns="0" rtlCol="0" anchor="ctr"/>
          <a:lstStyle/>
          <a:p>
            <a:pPr marL="0" indent="0">
              <a:buNone/>
            </a:pPr>
            <a:r>
              <a:rPr lang="en-US" sz="1400" b="1" dirty="0">
                <a:solidFill>
                  <a:srgbClr val="3B1E5F"/>
                </a:solidFill>
                <a:latin typeface="Calibri" pitchFamily="34" charset="0"/>
                <a:ea typeface="Calibri" pitchFamily="34" charset="-122"/>
                <a:cs typeface="Calibri" pitchFamily="34" charset="-120"/>
              </a:rPr>
              <a:t>AI use-case identification</a:t>
            </a:r>
            <a:endParaRPr lang="en-US" sz="1400" dirty="0"/>
          </a:p>
        </p:txBody>
      </p:sp>
      <p:sp>
        <p:nvSpPr>
          <p:cNvPr id="8" name="Text 6"/>
          <p:cNvSpPr txBox="1"/>
          <p:nvPr/>
        </p:nvSpPr>
        <p:spPr>
          <a:xfrm>
            <a:off x="1490472" y="1956816"/>
            <a:ext cx="4297680" cy="228600"/>
          </a:xfrm>
          <a:prstGeom prst="rect">
            <a:avLst/>
          </a:prstGeom>
          <a:noFill/>
          <a:ln/>
        </p:spPr>
        <p:txBody>
          <a:bodyPr wrap="square" lIns="0" tIns="0" rIns="0" bIns="0" rtlCol="0" anchor="ctr"/>
          <a:lstStyle/>
          <a:p>
            <a:pPr marL="0" indent="0">
              <a:buNone/>
            </a:pPr>
            <a:r>
              <a:rPr lang="en-US" sz="1100" i="1" dirty="0">
                <a:solidFill>
                  <a:srgbClr val="6E6880"/>
                </a:solidFill>
                <a:latin typeface="Calibri" pitchFamily="34" charset="0"/>
                <a:ea typeface="Calibri" pitchFamily="34" charset="-122"/>
                <a:cs typeface="Calibri" pitchFamily="34" charset="-120"/>
              </a:rPr>
              <a:t>HR, Legal and Customer Service</a:t>
            </a:r>
            <a:endParaRPr lang="en-US" sz="1100" dirty="0"/>
          </a:p>
        </p:txBody>
      </p:sp>
      <p:sp>
        <p:nvSpPr>
          <p:cNvPr id="9" name="Text 7"/>
          <p:cNvSpPr txBox="1"/>
          <p:nvPr/>
        </p:nvSpPr>
        <p:spPr>
          <a:xfrm>
            <a:off x="1490472" y="2194560"/>
            <a:ext cx="4297680" cy="365760"/>
          </a:xfrm>
          <a:prstGeom prst="rect">
            <a:avLst/>
          </a:prstGeom>
          <a:noFill/>
          <a:ln/>
        </p:spPr>
        <p:txBody>
          <a:bodyPr wrap="square" lIns="0" tIns="0" rIns="0" bIns="0" rtlCol="0" anchor="ctr"/>
          <a:lstStyle/>
          <a:p>
            <a:pPr marL="0" indent="0">
              <a:lnSpc>
                <a:spcPts val="1300"/>
              </a:lnSpc>
              <a:buNone/>
            </a:pPr>
            <a:r>
              <a:rPr lang="en-US" sz="1100" dirty="0">
                <a:solidFill>
                  <a:srgbClr val="26262E"/>
                </a:solidFill>
                <a:latin typeface="Calibri" pitchFamily="34" charset="0"/>
                <a:ea typeface="Calibri" pitchFamily="34" charset="-122"/>
                <a:cs typeface="Calibri" pitchFamily="34" charset="-120"/>
              </a:rPr>
              <a:t>Prioritised use-case list; ETB/NTB servicing bot concept on CBS</a:t>
            </a:r>
            <a:endParaRPr lang="en-US" sz="1100" dirty="0"/>
          </a:p>
        </p:txBody>
      </p:sp>
      <p:sp>
        <p:nvSpPr>
          <p:cNvPr id="10" name="Shape 8"/>
          <p:cNvSpPr/>
          <p:nvPr/>
        </p:nvSpPr>
        <p:spPr>
          <a:xfrm>
            <a:off x="6263640" y="1572768"/>
            <a:ext cx="5349240" cy="1024128"/>
          </a:xfrm>
          <a:prstGeom prst="roundRect">
            <a:avLst>
              <a:gd name="adj" fmla="val 6250"/>
            </a:avLst>
          </a:prstGeom>
          <a:solidFill>
            <a:srgbClr val="FFFFFF"/>
          </a:solidFill>
          <a:ln w="12700">
            <a:solidFill>
              <a:srgbClr val="E2D9EF"/>
            </a:solidFill>
            <a:prstDash val="solid"/>
          </a:ln>
        </p:spPr>
      </p:sp>
      <p:sp>
        <p:nvSpPr>
          <p:cNvPr id="11" name="Shape 9"/>
          <p:cNvSpPr/>
          <p:nvPr/>
        </p:nvSpPr>
        <p:spPr>
          <a:xfrm>
            <a:off x="6446520" y="1746504"/>
            <a:ext cx="566928" cy="566928"/>
          </a:xfrm>
          <a:prstGeom prst="roundRect">
            <a:avLst>
              <a:gd name="adj" fmla="val 25806"/>
            </a:avLst>
          </a:prstGeom>
          <a:solidFill>
            <a:srgbClr val="3B1E5F"/>
          </a:solidFill>
          <a:ln w="12700">
            <a:solidFill>
              <a:srgbClr val="3B1E5F"/>
            </a:solidFill>
            <a:prstDash val="solid"/>
          </a:ln>
        </p:spPr>
      </p:sp>
      <p:sp>
        <p:nvSpPr>
          <p:cNvPr id="12" name="Text 10"/>
          <p:cNvSpPr txBox="1"/>
          <p:nvPr/>
        </p:nvSpPr>
        <p:spPr>
          <a:xfrm>
            <a:off x="6446520" y="1847088"/>
            <a:ext cx="56692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02</a:t>
            </a:r>
            <a:endParaRPr lang="en-US" sz="1700" dirty="0"/>
          </a:p>
        </p:txBody>
      </p:sp>
      <p:sp>
        <p:nvSpPr>
          <p:cNvPr id="13" name="Text 11"/>
          <p:cNvSpPr txBox="1"/>
          <p:nvPr/>
        </p:nvSpPr>
        <p:spPr>
          <a:xfrm>
            <a:off x="7159752" y="1691640"/>
            <a:ext cx="4297680" cy="256032"/>
          </a:xfrm>
          <a:prstGeom prst="rect">
            <a:avLst/>
          </a:prstGeom>
          <a:noFill/>
          <a:ln/>
        </p:spPr>
        <p:txBody>
          <a:bodyPr wrap="square" lIns="0" tIns="0" rIns="0" bIns="0" rtlCol="0" anchor="ctr"/>
          <a:lstStyle/>
          <a:p>
            <a:pPr marL="0" indent="0">
              <a:buNone/>
            </a:pPr>
            <a:r>
              <a:rPr lang="en-US" sz="1400" b="1" dirty="0">
                <a:solidFill>
                  <a:srgbClr val="3B1E5F"/>
                </a:solidFill>
                <a:latin typeface="Calibri" pitchFamily="34" charset="0"/>
                <a:ea typeface="Calibri" pitchFamily="34" charset="-122"/>
                <a:cs typeface="Calibri" pitchFamily="34" charset="-120"/>
              </a:rPr>
              <a:t>Annual Report AI chapter</a:t>
            </a:r>
            <a:endParaRPr lang="en-US" sz="1400" dirty="0"/>
          </a:p>
        </p:txBody>
      </p:sp>
      <p:sp>
        <p:nvSpPr>
          <p:cNvPr id="14" name="Text 12"/>
          <p:cNvSpPr txBox="1"/>
          <p:nvPr/>
        </p:nvSpPr>
        <p:spPr>
          <a:xfrm>
            <a:off x="7159752" y="1956816"/>
            <a:ext cx="4297680" cy="228600"/>
          </a:xfrm>
          <a:prstGeom prst="rect">
            <a:avLst/>
          </a:prstGeom>
          <a:noFill/>
          <a:ln/>
        </p:spPr>
        <p:txBody>
          <a:bodyPr wrap="square" lIns="0" tIns="0" rIns="0" bIns="0" rtlCol="0" anchor="ctr"/>
          <a:lstStyle/>
          <a:p>
            <a:pPr marL="0" indent="0">
              <a:buNone/>
            </a:pPr>
            <a:r>
              <a:rPr lang="en-US" sz="1100" i="1" dirty="0">
                <a:solidFill>
                  <a:srgbClr val="6E6880"/>
                </a:solidFill>
                <a:latin typeface="Calibri" pitchFamily="34" charset="0"/>
                <a:ea typeface="Calibri" pitchFamily="34" charset="-122"/>
                <a:cs typeface="Calibri" pitchFamily="34" charset="-120"/>
              </a:rPr>
              <a:t>Content review and editorial input</a:t>
            </a:r>
            <a:endParaRPr lang="en-US" sz="1100" dirty="0"/>
          </a:p>
        </p:txBody>
      </p:sp>
      <p:sp>
        <p:nvSpPr>
          <p:cNvPr id="15" name="Text 13"/>
          <p:cNvSpPr txBox="1"/>
          <p:nvPr/>
        </p:nvSpPr>
        <p:spPr>
          <a:xfrm>
            <a:off x="7159752" y="2194560"/>
            <a:ext cx="4297680" cy="365760"/>
          </a:xfrm>
          <a:prstGeom prst="rect">
            <a:avLst/>
          </a:prstGeom>
          <a:noFill/>
          <a:ln/>
        </p:spPr>
        <p:txBody>
          <a:bodyPr wrap="square" lIns="0" tIns="0" rIns="0" bIns="0" rtlCol="0" anchor="ctr"/>
          <a:lstStyle/>
          <a:p>
            <a:pPr marL="0" indent="0">
              <a:lnSpc>
                <a:spcPts val="1300"/>
              </a:lnSpc>
              <a:buNone/>
            </a:pPr>
            <a:r>
              <a:rPr lang="en-US" sz="1100" dirty="0">
                <a:solidFill>
                  <a:srgbClr val="26262E"/>
                </a:solidFill>
                <a:latin typeface="Calibri" pitchFamily="34" charset="0"/>
                <a:ea typeface="Calibri" pitchFamily="34" charset="-122"/>
                <a:cs typeface="Calibri" pitchFamily="34" charset="-120"/>
              </a:rPr>
              <a:t>4–5 suggested changes accepted and published</a:t>
            </a:r>
            <a:endParaRPr lang="en-US" sz="1100" dirty="0"/>
          </a:p>
        </p:txBody>
      </p:sp>
      <p:sp>
        <p:nvSpPr>
          <p:cNvPr id="16" name="Shape 14"/>
          <p:cNvSpPr/>
          <p:nvPr/>
        </p:nvSpPr>
        <p:spPr>
          <a:xfrm>
            <a:off x="594360" y="2743200"/>
            <a:ext cx="5349240" cy="1024128"/>
          </a:xfrm>
          <a:prstGeom prst="roundRect">
            <a:avLst>
              <a:gd name="adj" fmla="val 6250"/>
            </a:avLst>
          </a:prstGeom>
          <a:solidFill>
            <a:srgbClr val="F0EBF7"/>
          </a:solidFill>
          <a:ln w="12700">
            <a:solidFill>
              <a:srgbClr val="E2D9EF"/>
            </a:solidFill>
            <a:prstDash val="solid"/>
          </a:ln>
        </p:spPr>
      </p:sp>
      <p:sp>
        <p:nvSpPr>
          <p:cNvPr id="17" name="Shape 15"/>
          <p:cNvSpPr/>
          <p:nvPr/>
        </p:nvSpPr>
        <p:spPr>
          <a:xfrm>
            <a:off x="777240" y="2916936"/>
            <a:ext cx="566928" cy="566928"/>
          </a:xfrm>
          <a:prstGeom prst="roundRect">
            <a:avLst>
              <a:gd name="adj" fmla="val 25806"/>
            </a:avLst>
          </a:prstGeom>
          <a:solidFill>
            <a:srgbClr val="3B1E5F"/>
          </a:solidFill>
          <a:ln w="12700">
            <a:solidFill>
              <a:srgbClr val="3B1E5F"/>
            </a:solidFill>
            <a:prstDash val="solid"/>
          </a:ln>
        </p:spPr>
      </p:sp>
      <p:sp>
        <p:nvSpPr>
          <p:cNvPr id="18" name="Text 16"/>
          <p:cNvSpPr txBox="1"/>
          <p:nvPr/>
        </p:nvSpPr>
        <p:spPr>
          <a:xfrm>
            <a:off x="777240" y="3017520"/>
            <a:ext cx="56692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03</a:t>
            </a:r>
            <a:endParaRPr lang="en-US" sz="1700" dirty="0"/>
          </a:p>
        </p:txBody>
      </p:sp>
      <p:sp>
        <p:nvSpPr>
          <p:cNvPr id="19" name="Text 17"/>
          <p:cNvSpPr txBox="1"/>
          <p:nvPr/>
        </p:nvSpPr>
        <p:spPr>
          <a:xfrm>
            <a:off x="1490472" y="2862072"/>
            <a:ext cx="4297680" cy="256032"/>
          </a:xfrm>
          <a:prstGeom prst="rect">
            <a:avLst/>
          </a:prstGeom>
          <a:noFill/>
          <a:ln/>
        </p:spPr>
        <p:txBody>
          <a:bodyPr wrap="square" lIns="0" tIns="0" rIns="0" bIns="0" rtlCol="0" anchor="ctr"/>
          <a:lstStyle/>
          <a:p>
            <a:pPr marL="0" indent="0">
              <a:buNone/>
            </a:pPr>
            <a:r>
              <a:rPr lang="en-US" sz="1400" b="1" dirty="0">
                <a:solidFill>
                  <a:srgbClr val="3B1E5F"/>
                </a:solidFill>
                <a:latin typeface="Calibri" pitchFamily="34" charset="0"/>
                <a:ea typeface="Calibri" pitchFamily="34" charset="-122"/>
                <a:cs typeface="Calibri" pitchFamily="34" charset="-120"/>
              </a:rPr>
              <a:t>WFH/Hybrid rollout</a:t>
            </a:r>
            <a:endParaRPr lang="en-US" sz="1400" dirty="0"/>
          </a:p>
        </p:txBody>
      </p:sp>
      <p:sp>
        <p:nvSpPr>
          <p:cNvPr id="20" name="Text 18"/>
          <p:cNvSpPr txBox="1"/>
          <p:nvPr/>
        </p:nvSpPr>
        <p:spPr>
          <a:xfrm>
            <a:off x="1490472" y="3127248"/>
            <a:ext cx="4297680" cy="228600"/>
          </a:xfrm>
          <a:prstGeom prst="rect">
            <a:avLst/>
          </a:prstGeom>
          <a:noFill/>
          <a:ln/>
        </p:spPr>
        <p:txBody>
          <a:bodyPr wrap="square" lIns="0" tIns="0" rIns="0" bIns="0" rtlCol="0" anchor="ctr"/>
          <a:lstStyle/>
          <a:p>
            <a:pPr marL="0" indent="0">
              <a:buNone/>
            </a:pPr>
            <a:r>
              <a:rPr lang="en-US" sz="1100" i="1" dirty="0">
                <a:solidFill>
                  <a:srgbClr val="6E6880"/>
                </a:solidFill>
                <a:latin typeface="Calibri" pitchFamily="34" charset="0"/>
                <a:ea typeface="Calibri" pitchFamily="34" charset="-122"/>
                <a:cs typeface="Calibri" pitchFamily="34" charset="-120"/>
              </a:rPr>
              <a:t>Data preparation and eligibility criteria</a:t>
            </a:r>
            <a:endParaRPr lang="en-US" sz="1100" dirty="0"/>
          </a:p>
        </p:txBody>
      </p:sp>
      <p:sp>
        <p:nvSpPr>
          <p:cNvPr id="21" name="Text 19"/>
          <p:cNvSpPr txBox="1"/>
          <p:nvPr/>
        </p:nvSpPr>
        <p:spPr>
          <a:xfrm>
            <a:off x="1490472" y="3364992"/>
            <a:ext cx="4297680" cy="365760"/>
          </a:xfrm>
          <a:prstGeom prst="rect">
            <a:avLst/>
          </a:prstGeom>
          <a:noFill/>
          <a:ln/>
        </p:spPr>
        <p:txBody>
          <a:bodyPr wrap="square" lIns="0" tIns="0" rIns="0" bIns="0" rtlCol="0" anchor="ctr"/>
          <a:lstStyle/>
          <a:p>
            <a:pPr marL="0" indent="0">
              <a:lnSpc>
                <a:spcPts val="1300"/>
              </a:lnSpc>
              <a:buNone/>
            </a:pPr>
            <a:r>
              <a:rPr lang="en-US" sz="1100" dirty="0">
                <a:solidFill>
                  <a:srgbClr val="26262E"/>
                </a:solidFill>
                <a:latin typeface="Calibri" pitchFamily="34" charset="0"/>
                <a:ea typeface="Calibri" pitchFamily="34" charset="-122"/>
                <a:cs typeface="Calibri" pitchFamily="34" charset="-120"/>
              </a:rPr>
              <a:t>Validated dataset of 2,000+ employees from a 10,000+ base</a:t>
            </a:r>
            <a:endParaRPr lang="en-US" sz="1100" dirty="0"/>
          </a:p>
        </p:txBody>
      </p:sp>
      <p:sp>
        <p:nvSpPr>
          <p:cNvPr id="22" name="Shape 20"/>
          <p:cNvSpPr/>
          <p:nvPr/>
        </p:nvSpPr>
        <p:spPr>
          <a:xfrm>
            <a:off x="6263640" y="2743200"/>
            <a:ext cx="5349240" cy="1024128"/>
          </a:xfrm>
          <a:prstGeom prst="roundRect">
            <a:avLst>
              <a:gd name="adj" fmla="val 6250"/>
            </a:avLst>
          </a:prstGeom>
          <a:solidFill>
            <a:srgbClr val="FFFFFF"/>
          </a:solidFill>
          <a:ln w="12700">
            <a:solidFill>
              <a:srgbClr val="E2D9EF"/>
            </a:solidFill>
            <a:prstDash val="solid"/>
          </a:ln>
        </p:spPr>
      </p:sp>
      <p:sp>
        <p:nvSpPr>
          <p:cNvPr id="23" name="Shape 21"/>
          <p:cNvSpPr/>
          <p:nvPr/>
        </p:nvSpPr>
        <p:spPr>
          <a:xfrm>
            <a:off x="6446520" y="2916936"/>
            <a:ext cx="566928" cy="566928"/>
          </a:xfrm>
          <a:prstGeom prst="roundRect">
            <a:avLst>
              <a:gd name="adj" fmla="val 25806"/>
            </a:avLst>
          </a:prstGeom>
          <a:solidFill>
            <a:srgbClr val="3B1E5F"/>
          </a:solidFill>
          <a:ln w="12700">
            <a:solidFill>
              <a:srgbClr val="3B1E5F"/>
            </a:solidFill>
            <a:prstDash val="solid"/>
          </a:ln>
        </p:spPr>
      </p:sp>
      <p:sp>
        <p:nvSpPr>
          <p:cNvPr id="24" name="Text 22"/>
          <p:cNvSpPr txBox="1"/>
          <p:nvPr/>
        </p:nvSpPr>
        <p:spPr>
          <a:xfrm>
            <a:off x="6446520" y="3017520"/>
            <a:ext cx="56692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04</a:t>
            </a:r>
            <a:endParaRPr lang="en-US" sz="1700" dirty="0"/>
          </a:p>
        </p:txBody>
      </p:sp>
      <p:sp>
        <p:nvSpPr>
          <p:cNvPr id="25" name="Text 23"/>
          <p:cNvSpPr txBox="1"/>
          <p:nvPr/>
        </p:nvSpPr>
        <p:spPr>
          <a:xfrm>
            <a:off x="7159752" y="2862072"/>
            <a:ext cx="4297680" cy="256032"/>
          </a:xfrm>
          <a:prstGeom prst="rect">
            <a:avLst/>
          </a:prstGeom>
          <a:noFill/>
          <a:ln/>
        </p:spPr>
        <p:txBody>
          <a:bodyPr wrap="square" lIns="0" tIns="0" rIns="0" bIns="0" rtlCol="0" anchor="ctr"/>
          <a:lstStyle/>
          <a:p>
            <a:pPr marL="0" indent="0">
              <a:buNone/>
            </a:pPr>
            <a:r>
              <a:rPr lang="en-US" sz="1400" b="1" dirty="0">
                <a:solidFill>
                  <a:srgbClr val="3B1E5F"/>
                </a:solidFill>
                <a:latin typeface="Calibri" pitchFamily="34" charset="0"/>
                <a:ea typeface="Calibri" pitchFamily="34" charset="-122"/>
                <a:cs typeface="Calibri" pitchFamily="34" charset="-120"/>
              </a:rPr>
              <a:t>Productivity tracking tool</a:t>
            </a:r>
            <a:endParaRPr lang="en-US" sz="1400" dirty="0"/>
          </a:p>
        </p:txBody>
      </p:sp>
      <p:sp>
        <p:nvSpPr>
          <p:cNvPr id="26" name="Text 24"/>
          <p:cNvSpPr txBox="1"/>
          <p:nvPr/>
        </p:nvSpPr>
        <p:spPr>
          <a:xfrm>
            <a:off x="7159752" y="3127248"/>
            <a:ext cx="4297680" cy="228600"/>
          </a:xfrm>
          <a:prstGeom prst="rect">
            <a:avLst/>
          </a:prstGeom>
          <a:noFill/>
          <a:ln/>
        </p:spPr>
        <p:txBody>
          <a:bodyPr wrap="square" lIns="0" tIns="0" rIns="0" bIns="0" rtlCol="0" anchor="ctr"/>
          <a:lstStyle/>
          <a:p>
            <a:pPr marL="0" indent="0">
              <a:buNone/>
            </a:pPr>
            <a:r>
              <a:rPr lang="en-US" sz="1100" i="1" dirty="0">
                <a:solidFill>
                  <a:srgbClr val="6E6880"/>
                </a:solidFill>
                <a:latin typeface="Calibri" pitchFamily="34" charset="0"/>
                <a:ea typeface="Calibri" pitchFamily="34" charset="-122"/>
                <a:cs typeface="Calibri" pitchFamily="34" charset="-120"/>
              </a:rPr>
              <a:t>Vendor evaluation and shortlisting</a:t>
            </a:r>
            <a:endParaRPr lang="en-US" sz="1100" dirty="0"/>
          </a:p>
        </p:txBody>
      </p:sp>
      <p:sp>
        <p:nvSpPr>
          <p:cNvPr id="27" name="Text 25"/>
          <p:cNvSpPr txBox="1"/>
          <p:nvPr/>
        </p:nvSpPr>
        <p:spPr>
          <a:xfrm>
            <a:off x="7159752" y="3364992"/>
            <a:ext cx="4297680" cy="365760"/>
          </a:xfrm>
          <a:prstGeom prst="rect">
            <a:avLst/>
          </a:prstGeom>
          <a:noFill/>
          <a:ln/>
        </p:spPr>
        <p:txBody>
          <a:bodyPr wrap="square" lIns="0" tIns="0" rIns="0" bIns="0" rtlCol="0" anchor="ctr"/>
          <a:lstStyle/>
          <a:p>
            <a:pPr marL="0" indent="0">
              <a:lnSpc>
                <a:spcPts val="1300"/>
              </a:lnSpc>
              <a:buNone/>
            </a:pPr>
            <a:r>
              <a:rPr lang="en-US" sz="1100" dirty="0">
                <a:solidFill>
                  <a:srgbClr val="26262E"/>
                </a:solidFill>
                <a:latin typeface="Calibri" pitchFamily="34" charset="0"/>
                <a:ea typeface="Calibri" pitchFamily="34" charset="-122"/>
                <a:cs typeface="Calibri" pitchFamily="34" charset="-120"/>
              </a:rPr>
              <a:t>we360.ai selected from 10+ vendors</a:t>
            </a:r>
            <a:endParaRPr lang="en-US" sz="1100" dirty="0"/>
          </a:p>
        </p:txBody>
      </p:sp>
      <p:sp>
        <p:nvSpPr>
          <p:cNvPr id="28" name="Shape 26"/>
          <p:cNvSpPr/>
          <p:nvPr/>
        </p:nvSpPr>
        <p:spPr>
          <a:xfrm>
            <a:off x="594360" y="3913632"/>
            <a:ext cx="5349240" cy="1024128"/>
          </a:xfrm>
          <a:prstGeom prst="roundRect">
            <a:avLst>
              <a:gd name="adj" fmla="val 6250"/>
            </a:avLst>
          </a:prstGeom>
          <a:solidFill>
            <a:srgbClr val="F0EBF7"/>
          </a:solidFill>
          <a:ln w="12700">
            <a:solidFill>
              <a:srgbClr val="E2D9EF"/>
            </a:solidFill>
            <a:prstDash val="solid"/>
          </a:ln>
        </p:spPr>
      </p:sp>
      <p:sp>
        <p:nvSpPr>
          <p:cNvPr id="29" name="Shape 27"/>
          <p:cNvSpPr/>
          <p:nvPr/>
        </p:nvSpPr>
        <p:spPr>
          <a:xfrm>
            <a:off x="777240" y="4087368"/>
            <a:ext cx="566928" cy="566928"/>
          </a:xfrm>
          <a:prstGeom prst="roundRect">
            <a:avLst>
              <a:gd name="adj" fmla="val 25806"/>
            </a:avLst>
          </a:prstGeom>
          <a:solidFill>
            <a:srgbClr val="3B1E5F"/>
          </a:solidFill>
          <a:ln w="12700">
            <a:solidFill>
              <a:srgbClr val="3B1E5F"/>
            </a:solidFill>
            <a:prstDash val="solid"/>
          </a:ln>
        </p:spPr>
      </p:sp>
      <p:sp>
        <p:nvSpPr>
          <p:cNvPr id="30" name="Text 28"/>
          <p:cNvSpPr txBox="1"/>
          <p:nvPr/>
        </p:nvSpPr>
        <p:spPr>
          <a:xfrm>
            <a:off x="777240" y="4187952"/>
            <a:ext cx="56692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05</a:t>
            </a:r>
            <a:endParaRPr lang="en-US" sz="1700" dirty="0"/>
          </a:p>
        </p:txBody>
      </p:sp>
      <p:sp>
        <p:nvSpPr>
          <p:cNvPr id="31" name="Text 29"/>
          <p:cNvSpPr txBox="1"/>
          <p:nvPr/>
        </p:nvSpPr>
        <p:spPr>
          <a:xfrm>
            <a:off x="1490472" y="4032504"/>
            <a:ext cx="4297680" cy="256032"/>
          </a:xfrm>
          <a:prstGeom prst="rect">
            <a:avLst/>
          </a:prstGeom>
          <a:noFill/>
          <a:ln/>
        </p:spPr>
        <p:txBody>
          <a:bodyPr wrap="square" lIns="0" tIns="0" rIns="0" bIns="0" rtlCol="0" anchor="ctr"/>
          <a:lstStyle/>
          <a:p>
            <a:pPr marL="0" indent="0">
              <a:buNone/>
            </a:pPr>
            <a:r>
              <a:rPr lang="en-US" sz="1400" b="1" dirty="0">
                <a:solidFill>
                  <a:srgbClr val="3B1E5F"/>
                </a:solidFill>
                <a:latin typeface="Calibri" pitchFamily="34" charset="0"/>
                <a:ea typeface="Calibri" pitchFamily="34" charset="-122"/>
                <a:cs typeface="Calibri" pitchFamily="34" charset="-120"/>
              </a:rPr>
              <a:t>LEA Bot</a:t>
            </a:r>
            <a:endParaRPr lang="en-US" sz="1400" dirty="0"/>
          </a:p>
        </p:txBody>
      </p:sp>
      <p:sp>
        <p:nvSpPr>
          <p:cNvPr id="32" name="Text 30"/>
          <p:cNvSpPr txBox="1"/>
          <p:nvPr/>
        </p:nvSpPr>
        <p:spPr>
          <a:xfrm>
            <a:off x="1490472" y="4297680"/>
            <a:ext cx="4297680" cy="228600"/>
          </a:xfrm>
          <a:prstGeom prst="rect">
            <a:avLst/>
          </a:prstGeom>
          <a:noFill/>
          <a:ln/>
        </p:spPr>
        <p:txBody>
          <a:bodyPr wrap="square" lIns="0" tIns="0" rIns="0" bIns="0" rtlCol="0" anchor="ctr"/>
          <a:lstStyle/>
          <a:p>
            <a:pPr marL="0" indent="0">
              <a:buNone/>
            </a:pPr>
            <a:r>
              <a:rPr lang="en-US" sz="1100" i="1" dirty="0">
                <a:solidFill>
                  <a:srgbClr val="6E6880"/>
                </a:solidFill>
                <a:latin typeface="Calibri" pitchFamily="34" charset="0"/>
                <a:ea typeface="Calibri" pitchFamily="34" charset="-122"/>
                <a:cs typeface="Calibri" pitchFamily="34" charset="-120"/>
              </a:rPr>
              <a:t>Requirement definition and workflow design</a:t>
            </a:r>
            <a:endParaRPr lang="en-US" sz="1100" dirty="0"/>
          </a:p>
        </p:txBody>
      </p:sp>
      <p:sp>
        <p:nvSpPr>
          <p:cNvPr id="33" name="Text 31"/>
          <p:cNvSpPr txBox="1"/>
          <p:nvPr/>
        </p:nvSpPr>
        <p:spPr>
          <a:xfrm>
            <a:off x="1490472" y="4535424"/>
            <a:ext cx="4297680" cy="365760"/>
          </a:xfrm>
          <a:prstGeom prst="rect">
            <a:avLst/>
          </a:prstGeom>
          <a:noFill/>
          <a:ln/>
        </p:spPr>
        <p:txBody>
          <a:bodyPr wrap="square" lIns="0" tIns="0" rIns="0" bIns="0" rtlCol="0" anchor="ctr"/>
          <a:lstStyle/>
          <a:p>
            <a:pPr marL="0" indent="0">
              <a:lnSpc>
                <a:spcPts val="1300"/>
              </a:lnSpc>
              <a:buNone/>
            </a:pPr>
            <a:r>
              <a:rPr lang="en-US" sz="1100" dirty="0">
                <a:solidFill>
                  <a:srgbClr val="26262E"/>
                </a:solidFill>
                <a:latin typeface="Calibri" pitchFamily="34" charset="0"/>
                <a:ea typeface="Calibri" pitchFamily="34" charset="-122"/>
                <a:cs typeface="Calibri" pitchFamily="34" charset="-120"/>
              </a:rPr>
              <a:t>Automated mail analysis, retrieval and drafting</a:t>
            </a:r>
            <a:endParaRPr lang="en-US" sz="1100" dirty="0"/>
          </a:p>
        </p:txBody>
      </p:sp>
      <p:sp>
        <p:nvSpPr>
          <p:cNvPr id="34" name="Shape 32"/>
          <p:cNvSpPr/>
          <p:nvPr/>
        </p:nvSpPr>
        <p:spPr>
          <a:xfrm>
            <a:off x="6263640" y="3913632"/>
            <a:ext cx="5349240" cy="1024128"/>
          </a:xfrm>
          <a:prstGeom prst="roundRect">
            <a:avLst>
              <a:gd name="adj" fmla="val 6250"/>
            </a:avLst>
          </a:prstGeom>
          <a:solidFill>
            <a:srgbClr val="FFFFFF"/>
          </a:solidFill>
          <a:ln w="12700">
            <a:solidFill>
              <a:srgbClr val="E2D9EF"/>
            </a:solidFill>
            <a:prstDash val="solid"/>
          </a:ln>
        </p:spPr>
      </p:sp>
      <p:sp>
        <p:nvSpPr>
          <p:cNvPr id="35" name="Shape 33"/>
          <p:cNvSpPr/>
          <p:nvPr/>
        </p:nvSpPr>
        <p:spPr>
          <a:xfrm>
            <a:off x="6446520" y="4087368"/>
            <a:ext cx="566928" cy="566928"/>
          </a:xfrm>
          <a:prstGeom prst="roundRect">
            <a:avLst>
              <a:gd name="adj" fmla="val 25806"/>
            </a:avLst>
          </a:prstGeom>
          <a:solidFill>
            <a:srgbClr val="3B1E5F"/>
          </a:solidFill>
          <a:ln w="12700">
            <a:solidFill>
              <a:srgbClr val="3B1E5F"/>
            </a:solidFill>
            <a:prstDash val="solid"/>
          </a:ln>
        </p:spPr>
      </p:sp>
      <p:sp>
        <p:nvSpPr>
          <p:cNvPr id="36" name="Text 34"/>
          <p:cNvSpPr txBox="1"/>
          <p:nvPr/>
        </p:nvSpPr>
        <p:spPr>
          <a:xfrm>
            <a:off x="6446520" y="4187952"/>
            <a:ext cx="56692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06</a:t>
            </a:r>
            <a:endParaRPr lang="en-US" sz="1700" dirty="0"/>
          </a:p>
        </p:txBody>
      </p:sp>
      <p:sp>
        <p:nvSpPr>
          <p:cNvPr id="37" name="Text 35"/>
          <p:cNvSpPr txBox="1"/>
          <p:nvPr/>
        </p:nvSpPr>
        <p:spPr>
          <a:xfrm>
            <a:off x="7159752" y="4032504"/>
            <a:ext cx="4297680" cy="256032"/>
          </a:xfrm>
          <a:prstGeom prst="rect">
            <a:avLst/>
          </a:prstGeom>
          <a:noFill/>
          <a:ln/>
        </p:spPr>
        <p:txBody>
          <a:bodyPr wrap="square" lIns="0" tIns="0" rIns="0" bIns="0" rtlCol="0" anchor="ctr"/>
          <a:lstStyle/>
          <a:p>
            <a:pPr marL="0" indent="0">
              <a:buNone/>
            </a:pPr>
            <a:r>
              <a:rPr lang="en-US" sz="1400" b="1" dirty="0">
                <a:solidFill>
                  <a:srgbClr val="3B1E5F"/>
                </a:solidFill>
                <a:latin typeface="Calibri" pitchFamily="34" charset="0"/>
                <a:ea typeface="Calibri" pitchFamily="34" charset="-122"/>
                <a:cs typeface="Calibri" pitchFamily="34" charset="-120"/>
              </a:rPr>
              <a:t>Knowledge base expansion</a:t>
            </a:r>
            <a:endParaRPr lang="en-US" sz="1400" dirty="0"/>
          </a:p>
        </p:txBody>
      </p:sp>
      <p:sp>
        <p:nvSpPr>
          <p:cNvPr id="38" name="Text 36"/>
          <p:cNvSpPr txBox="1"/>
          <p:nvPr/>
        </p:nvSpPr>
        <p:spPr>
          <a:xfrm>
            <a:off x="7159752" y="4297680"/>
            <a:ext cx="4297680" cy="228600"/>
          </a:xfrm>
          <a:prstGeom prst="rect">
            <a:avLst/>
          </a:prstGeom>
          <a:noFill/>
          <a:ln/>
        </p:spPr>
        <p:txBody>
          <a:bodyPr wrap="square" lIns="0" tIns="0" rIns="0" bIns="0" rtlCol="0" anchor="ctr"/>
          <a:lstStyle/>
          <a:p>
            <a:pPr marL="0" indent="0">
              <a:buNone/>
            </a:pPr>
            <a:r>
              <a:rPr lang="en-US" sz="1100" i="1" dirty="0">
                <a:solidFill>
                  <a:srgbClr val="6E6880"/>
                </a:solidFill>
                <a:latin typeface="Calibri" pitchFamily="34" charset="0"/>
                <a:ea typeface="Calibri" pitchFamily="34" charset="-122"/>
                <a:cs typeface="Calibri" pitchFamily="34" charset="-120"/>
              </a:rPr>
              <a:t>Categorisation and page-wise chunking for RAG</a:t>
            </a:r>
            <a:endParaRPr lang="en-US" sz="1100" dirty="0"/>
          </a:p>
        </p:txBody>
      </p:sp>
      <p:sp>
        <p:nvSpPr>
          <p:cNvPr id="39" name="Text 37"/>
          <p:cNvSpPr txBox="1"/>
          <p:nvPr/>
        </p:nvSpPr>
        <p:spPr>
          <a:xfrm>
            <a:off x="7159752" y="4535424"/>
            <a:ext cx="4297680" cy="365760"/>
          </a:xfrm>
          <a:prstGeom prst="rect">
            <a:avLst/>
          </a:prstGeom>
          <a:noFill/>
          <a:ln/>
        </p:spPr>
        <p:txBody>
          <a:bodyPr wrap="square" lIns="0" tIns="0" rIns="0" bIns="0" rtlCol="0" anchor="ctr"/>
          <a:lstStyle/>
          <a:p>
            <a:pPr marL="0" indent="0">
              <a:lnSpc>
                <a:spcPts val="1300"/>
              </a:lnSpc>
              <a:buNone/>
            </a:pPr>
            <a:r>
              <a:rPr lang="en-US" sz="1100" dirty="0">
                <a:solidFill>
                  <a:srgbClr val="26262E"/>
                </a:solidFill>
                <a:latin typeface="Calibri" pitchFamily="34" charset="0"/>
                <a:ea typeface="Calibri" pitchFamily="34" charset="-122"/>
                <a:cs typeface="Calibri" pitchFamily="34" charset="-120"/>
              </a:rPr>
              <a:t>1,000+ SOPs uploaded to Intellect (Purple Fabric)</a:t>
            </a:r>
            <a:endParaRPr lang="en-US" sz="1100" dirty="0"/>
          </a:p>
        </p:txBody>
      </p:sp>
      <p:sp>
        <p:nvSpPr>
          <p:cNvPr id="40" name="Shape 38"/>
          <p:cNvSpPr/>
          <p:nvPr/>
        </p:nvSpPr>
        <p:spPr>
          <a:xfrm>
            <a:off x="594360" y="5084064"/>
            <a:ext cx="5349240" cy="1024128"/>
          </a:xfrm>
          <a:prstGeom prst="roundRect">
            <a:avLst>
              <a:gd name="adj" fmla="val 6250"/>
            </a:avLst>
          </a:prstGeom>
          <a:solidFill>
            <a:srgbClr val="F0EBF7"/>
          </a:solidFill>
          <a:ln w="12700">
            <a:solidFill>
              <a:srgbClr val="E2D9EF"/>
            </a:solidFill>
            <a:prstDash val="solid"/>
          </a:ln>
        </p:spPr>
      </p:sp>
      <p:sp>
        <p:nvSpPr>
          <p:cNvPr id="41" name="Shape 39"/>
          <p:cNvSpPr/>
          <p:nvPr/>
        </p:nvSpPr>
        <p:spPr>
          <a:xfrm>
            <a:off x="777240" y="5257800"/>
            <a:ext cx="566928" cy="566928"/>
          </a:xfrm>
          <a:prstGeom prst="roundRect">
            <a:avLst>
              <a:gd name="adj" fmla="val 25806"/>
            </a:avLst>
          </a:prstGeom>
          <a:solidFill>
            <a:srgbClr val="3B1E5F"/>
          </a:solidFill>
          <a:ln w="12700">
            <a:solidFill>
              <a:srgbClr val="3B1E5F"/>
            </a:solidFill>
            <a:prstDash val="solid"/>
          </a:ln>
        </p:spPr>
      </p:sp>
      <p:sp>
        <p:nvSpPr>
          <p:cNvPr id="42" name="Text 40"/>
          <p:cNvSpPr txBox="1"/>
          <p:nvPr/>
        </p:nvSpPr>
        <p:spPr>
          <a:xfrm>
            <a:off x="777240" y="5358384"/>
            <a:ext cx="56692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07</a:t>
            </a:r>
            <a:endParaRPr lang="en-US" sz="1700" dirty="0"/>
          </a:p>
        </p:txBody>
      </p:sp>
      <p:sp>
        <p:nvSpPr>
          <p:cNvPr id="43" name="Text 41"/>
          <p:cNvSpPr txBox="1"/>
          <p:nvPr/>
        </p:nvSpPr>
        <p:spPr>
          <a:xfrm>
            <a:off x="1490472" y="5202936"/>
            <a:ext cx="4297680" cy="256032"/>
          </a:xfrm>
          <a:prstGeom prst="rect">
            <a:avLst/>
          </a:prstGeom>
          <a:noFill/>
          <a:ln/>
        </p:spPr>
        <p:txBody>
          <a:bodyPr wrap="square" lIns="0" tIns="0" rIns="0" bIns="0" rtlCol="0" anchor="ctr"/>
          <a:lstStyle/>
          <a:p>
            <a:pPr marL="0" indent="0">
              <a:buNone/>
            </a:pPr>
            <a:r>
              <a:rPr lang="en-US" sz="1400" b="1" dirty="0">
                <a:solidFill>
                  <a:srgbClr val="3B1E5F"/>
                </a:solidFill>
                <a:latin typeface="Calibri" pitchFamily="34" charset="0"/>
                <a:ea typeface="Calibri" pitchFamily="34" charset="-122"/>
                <a:cs typeface="Calibri" pitchFamily="34" charset="-120"/>
              </a:rPr>
              <a:t>Management reporting</a:t>
            </a:r>
            <a:endParaRPr lang="en-US" sz="1400" dirty="0"/>
          </a:p>
        </p:txBody>
      </p:sp>
      <p:sp>
        <p:nvSpPr>
          <p:cNvPr id="44" name="Text 42"/>
          <p:cNvSpPr txBox="1"/>
          <p:nvPr/>
        </p:nvSpPr>
        <p:spPr>
          <a:xfrm>
            <a:off x="1490472" y="5468112"/>
            <a:ext cx="4297680" cy="228600"/>
          </a:xfrm>
          <a:prstGeom prst="rect">
            <a:avLst/>
          </a:prstGeom>
          <a:noFill/>
          <a:ln/>
        </p:spPr>
        <p:txBody>
          <a:bodyPr wrap="square" lIns="0" tIns="0" rIns="0" bIns="0" rtlCol="0" anchor="ctr"/>
          <a:lstStyle/>
          <a:p>
            <a:pPr marL="0" indent="0">
              <a:buNone/>
            </a:pPr>
            <a:r>
              <a:rPr lang="en-US" sz="1100" i="1" dirty="0">
                <a:solidFill>
                  <a:srgbClr val="6E6880"/>
                </a:solidFill>
                <a:latin typeface="Calibri" pitchFamily="34" charset="0"/>
                <a:ea typeface="Calibri" pitchFamily="34" charset="-122"/>
                <a:cs typeface="Calibri" pitchFamily="34" charset="-120"/>
              </a:rPr>
              <a:t>Presentation design and data storytelling</a:t>
            </a:r>
            <a:endParaRPr lang="en-US" sz="1100" dirty="0"/>
          </a:p>
        </p:txBody>
      </p:sp>
      <p:sp>
        <p:nvSpPr>
          <p:cNvPr id="45" name="Text 43"/>
          <p:cNvSpPr txBox="1"/>
          <p:nvPr/>
        </p:nvSpPr>
        <p:spPr>
          <a:xfrm>
            <a:off x="1490472" y="5705856"/>
            <a:ext cx="4297680" cy="365760"/>
          </a:xfrm>
          <a:prstGeom prst="rect">
            <a:avLst/>
          </a:prstGeom>
          <a:noFill/>
          <a:ln/>
        </p:spPr>
        <p:txBody>
          <a:bodyPr wrap="square" lIns="0" tIns="0" rIns="0" bIns="0" rtlCol="0" anchor="ctr"/>
          <a:lstStyle/>
          <a:p>
            <a:pPr marL="0" indent="0">
              <a:lnSpc>
                <a:spcPts val="1300"/>
              </a:lnSpc>
              <a:buNone/>
            </a:pPr>
            <a:r>
              <a:rPr lang="en-US" sz="1100" dirty="0">
                <a:solidFill>
                  <a:srgbClr val="26262E"/>
                </a:solidFill>
                <a:latin typeface="Calibri" pitchFamily="34" charset="0"/>
                <a:ea typeface="Calibri" pitchFamily="34" charset="-122"/>
                <a:cs typeface="Calibri" pitchFamily="34" charset="-120"/>
              </a:rPr>
              <a:t>Decks for senior leadership reviews</a:t>
            </a:r>
            <a:endParaRPr lang="en-US" sz="1100" dirty="0"/>
          </a:p>
        </p:txBody>
      </p:sp>
      <p:sp>
        <p:nvSpPr>
          <p:cNvPr id="46" name="Shape 44"/>
          <p:cNvSpPr/>
          <p:nvPr/>
        </p:nvSpPr>
        <p:spPr>
          <a:xfrm>
            <a:off x="6263640" y="5084064"/>
            <a:ext cx="5349240" cy="1024128"/>
          </a:xfrm>
          <a:prstGeom prst="roundRect">
            <a:avLst>
              <a:gd name="adj" fmla="val 6250"/>
            </a:avLst>
          </a:prstGeom>
          <a:solidFill>
            <a:srgbClr val="FFFFFF"/>
          </a:solidFill>
          <a:ln w="12700">
            <a:solidFill>
              <a:srgbClr val="E2D9EF"/>
            </a:solidFill>
            <a:prstDash val="solid"/>
          </a:ln>
        </p:spPr>
      </p:sp>
      <p:sp>
        <p:nvSpPr>
          <p:cNvPr id="47" name="Shape 45"/>
          <p:cNvSpPr/>
          <p:nvPr/>
        </p:nvSpPr>
        <p:spPr>
          <a:xfrm>
            <a:off x="6446520" y="5257800"/>
            <a:ext cx="566928" cy="566928"/>
          </a:xfrm>
          <a:prstGeom prst="roundRect">
            <a:avLst>
              <a:gd name="adj" fmla="val 25806"/>
            </a:avLst>
          </a:prstGeom>
          <a:solidFill>
            <a:srgbClr val="3B1E5F"/>
          </a:solidFill>
          <a:ln w="12700">
            <a:solidFill>
              <a:srgbClr val="3B1E5F"/>
            </a:solidFill>
            <a:prstDash val="solid"/>
          </a:ln>
        </p:spPr>
      </p:sp>
      <p:sp>
        <p:nvSpPr>
          <p:cNvPr id="48" name="Text 46"/>
          <p:cNvSpPr txBox="1"/>
          <p:nvPr/>
        </p:nvSpPr>
        <p:spPr>
          <a:xfrm>
            <a:off x="6446520" y="5358384"/>
            <a:ext cx="566928"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08</a:t>
            </a:r>
            <a:endParaRPr lang="en-US" sz="1700" dirty="0"/>
          </a:p>
        </p:txBody>
      </p:sp>
      <p:sp>
        <p:nvSpPr>
          <p:cNvPr id="49" name="Text 47"/>
          <p:cNvSpPr txBox="1"/>
          <p:nvPr/>
        </p:nvSpPr>
        <p:spPr>
          <a:xfrm>
            <a:off x="7159752" y="5202936"/>
            <a:ext cx="4297680" cy="256032"/>
          </a:xfrm>
          <a:prstGeom prst="rect">
            <a:avLst/>
          </a:prstGeom>
          <a:noFill/>
          <a:ln/>
        </p:spPr>
        <p:txBody>
          <a:bodyPr wrap="square" lIns="0" tIns="0" rIns="0" bIns="0" rtlCol="0" anchor="ctr"/>
          <a:lstStyle/>
          <a:p>
            <a:pPr marL="0" indent="0">
              <a:buNone/>
            </a:pPr>
            <a:r>
              <a:rPr lang="en-US" sz="1400" b="1" dirty="0">
                <a:solidFill>
                  <a:srgbClr val="3B1E5F"/>
                </a:solidFill>
                <a:latin typeface="Calibri" pitchFamily="34" charset="0"/>
                <a:ea typeface="Calibri" pitchFamily="34" charset="-122"/>
                <a:cs typeface="Calibri" pitchFamily="34" charset="-120"/>
              </a:rPr>
              <a:t>Appraisal framework</a:t>
            </a:r>
            <a:endParaRPr lang="en-US" sz="1400" dirty="0"/>
          </a:p>
        </p:txBody>
      </p:sp>
      <p:sp>
        <p:nvSpPr>
          <p:cNvPr id="50" name="Text 48"/>
          <p:cNvSpPr txBox="1"/>
          <p:nvPr/>
        </p:nvSpPr>
        <p:spPr>
          <a:xfrm>
            <a:off x="7159752" y="5468112"/>
            <a:ext cx="4297680" cy="228600"/>
          </a:xfrm>
          <a:prstGeom prst="rect">
            <a:avLst/>
          </a:prstGeom>
          <a:noFill/>
          <a:ln/>
        </p:spPr>
        <p:txBody>
          <a:bodyPr wrap="square" lIns="0" tIns="0" rIns="0" bIns="0" rtlCol="0" anchor="ctr"/>
          <a:lstStyle/>
          <a:p>
            <a:pPr marL="0" indent="0">
              <a:buNone/>
            </a:pPr>
            <a:r>
              <a:rPr lang="en-US" sz="1100" i="1" dirty="0">
                <a:solidFill>
                  <a:srgbClr val="6E6880"/>
                </a:solidFill>
                <a:latin typeface="Calibri" pitchFamily="34" charset="0"/>
                <a:ea typeface="Calibri" pitchFamily="34" charset="-122"/>
                <a:cs typeface="Calibri" pitchFamily="34" charset="-120"/>
              </a:rPr>
              <a:t>Framework design and parameter definition</a:t>
            </a:r>
            <a:endParaRPr lang="en-US" sz="1100" dirty="0"/>
          </a:p>
        </p:txBody>
      </p:sp>
      <p:sp>
        <p:nvSpPr>
          <p:cNvPr id="51" name="Text 49"/>
          <p:cNvSpPr txBox="1"/>
          <p:nvPr/>
        </p:nvSpPr>
        <p:spPr>
          <a:xfrm>
            <a:off x="7159752" y="5705856"/>
            <a:ext cx="4297680" cy="365760"/>
          </a:xfrm>
          <a:prstGeom prst="rect">
            <a:avLst/>
          </a:prstGeom>
          <a:noFill/>
          <a:ln/>
        </p:spPr>
        <p:txBody>
          <a:bodyPr wrap="square" lIns="0" tIns="0" rIns="0" bIns="0" rtlCol="0" anchor="ctr"/>
          <a:lstStyle/>
          <a:p>
            <a:pPr marL="0" indent="0">
              <a:lnSpc>
                <a:spcPts val="1300"/>
              </a:lnSpc>
              <a:buNone/>
            </a:pPr>
            <a:r>
              <a:rPr lang="en-US" sz="1100" dirty="0">
                <a:solidFill>
                  <a:srgbClr val="26262E"/>
                </a:solidFill>
                <a:latin typeface="Calibri" pitchFamily="34" charset="0"/>
                <a:ea typeface="Calibri" pitchFamily="34" charset="-122"/>
                <a:cs typeface="Calibri" pitchFamily="34" charset="-120"/>
              </a:rPr>
              <a:t>Structured model to replace subjective 1–5 rating</a:t>
            </a:r>
            <a:endParaRPr lang="en-US" sz="1100" dirty="0"/>
          </a:p>
        </p:txBody>
      </p:sp>
      <p:sp>
        <p:nvSpPr>
          <p:cNvPr id="52" name="Text 50"/>
          <p:cNvSpPr txBox="1"/>
          <p:nvPr/>
        </p:nvSpPr>
        <p:spPr>
          <a:xfrm>
            <a:off x="594360" y="6309360"/>
            <a:ext cx="10972800" cy="292608"/>
          </a:xfrm>
          <a:prstGeom prst="rect">
            <a:avLst/>
          </a:prstGeom>
          <a:noFill/>
          <a:ln/>
        </p:spPr>
        <p:txBody>
          <a:bodyPr wrap="square" lIns="0" tIns="0" rIns="0" bIns="0" rtlCol="0" anchor="ctr"/>
          <a:lstStyle/>
          <a:p>
            <a:pPr marL="0" indent="0">
              <a:buNone/>
            </a:pPr>
            <a:r>
              <a:rPr lang="en-US" sz="1200" i="1" dirty="0">
                <a:solidFill>
                  <a:srgbClr val="6E6880"/>
                </a:solidFill>
                <a:latin typeface="Calibri" pitchFamily="34" charset="0"/>
                <a:ea typeface="Calibri" pitchFamily="34" charset="-122"/>
                <a:cs typeface="Calibri" pitchFamily="34" charset="-120"/>
              </a:rPr>
              <a:t>Plus ongoing coordination with senior management — Deputy CEO, COO, CIO and CFO — for approvals, inputs and project updates.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8778240" cy="566928"/>
          </a:xfrm>
          <a:prstGeom prst="rect">
            <a:avLst/>
          </a:prstGeom>
          <a:noFill/>
          <a:ln/>
        </p:spPr>
        <p:txBody>
          <a:bodyPr wrap="square" lIns="0" tIns="0" rIns="0" bIns="0" rtlCol="0" anchor="ctr"/>
          <a:lstStyle/>
          <a:p>
            <a:pPr marL="0" indent="0">
              <a:buNone/>
            </a:pPr>
            <a:r>
              <a:rPr lang="en-US" sz="3400" b="1" dirty="0">
                <a:solidFill>
                  <a:srgbClr val="3B1E5F"/>
                </a:solidFill>
                <a:latin typeface="Cambria" pitchFamily="34" charset="0"/>
                <a:ea typeface="Cambria" pitchFamily="34" charset="-122"/>
                <a:cs typeface="Cambria" pitchFamily="34" charset="-120"/>
              </a:rPr>
              <a:t>Project Methodology</a:t>
            </a:r>
            <a:endParaRPr lang="en-US" sz="3400" dirty="0"/>
          </a:p>
        </p:txBody>
      </p:sp>
      <p:sp>
        <p:nvSpPr>
          <p:cNvPr id="3" name="Text 1"/>
          <p:cNvSpPr txBox="1"/>
          <p:nvPr/>
        </p:nvSpPr>
        <p:spPr>
          <a:xfrm>
            <a:off x="594360" y="960120"/>
            <a:ext cx="10058400" cy="320040"/>
          </a:xfrm>
          <a:prstGeom prst="rect">
            <a:avLst/>
          </a:prstGeom>
          <a:noFill/>
          <a:ln/>
        </p:spPr>
        <p:txBody>
          <a:bodyPr wrap="square" lIns="0" tIns="0" rIns="0" bIns="0" rtlCol="0" anchor="ctr"/>
          <a:lstStyle/>
          <a:p>
            <a:pPr marL="0" indent="0">
              <a:buNone/>
            </a:pPr>
            <a:r>
              <a:rPr lang="en-US" sz="1400" i="1" dirty="0">
                <a:solidFill>
                  <a:srgbClr val="6E6880"/>
                </a:solidFill>
                <a:latin typeface="Calibri" pitchFamily="34" charset="0"/>
                <a:ea typeface="Calibri" pitchFamily="34" charset="-122"/>
                <a:cs typeface="Calibri" pitchFamily="34" charset="-120"/>
              </a:rPr>
              <a:t>Flagship use case — the Customer Service servicing bot on top of CBS</a:t>
            </a:r>
            <a:endParaRPr lang="en-US" sz="1400" dirty="0"/>
          </a:p>
        </p:txBody>
      </p:sp>
      <p:sp>
        <p:nvSpPr>
          <p:cNvPr id="4" name="Text 2"/>
          <p:cNvSpPr txBox="1"/>
          <p:nvPr/>
        </p:nvSpPr>
        <p:spPr>
          <a:xfrm>
            <a:off x="594360" y="1600200"/>
            <a:ext cx="4937760" cy="292608"/>
          </a:xfrm>
          <a:prstGeom prst="rect">
            <a:avLst/>
          </a:prstGeom>
          <a:noFill/>
          <a:ln/>
        </p:spPr>
        <p:txBody>
          <a:bodyPr wrap="square" lIns="0" tIns="0" rIns="0" bIns="0" rtlCol="0" anchor="ctr"/>
          <a:lstStyle/>
          <a:p>
            <a:pPr marL="0" indent="0">
              <a:buNone/>
            </a:pPr>
            <a:r>
              <a:rPr lang="en-US" sz="1500" b="1" dirty="0">
                <a:solidFill>
                  <a:srgbClr val="F26522"/>
                </a:solidFill>
                <a:latin typeface="Calibri" pitchFamily="34" charset="0"/>
                <a:ea typeface="Calibri" pitchFamily="34" charset="-122"/>
                <a:cs typeface="Calibri" pitchFamily="34" charset="-120"/>
              </a:rPr>
              <a:t>The opportunity: ~75 lakh QRCs a year</a:t>
            </a:r>
            <a:endParaRPr lang="en-US" sz="1500" dirty="0"/>
          </a:p>
        </p:txBody>
      </p:sp>
      <p:graphicFrame>
        <p:nvGraphicFramePr>
          <p:cNvPr id="5" name="Chart 0"/>
          <p:cNvGraphicFramePr/>
          <p:nvPr/>
        </p:nvGraphicFramePr>
        <p:xfrm>
          <a:off x="457200" y="1965960"/>
          <a:ext cx="52120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94360" y="4370832"/>
            <a:ext cx="4937760" cy="640080"/>
          </a:xfrm>
          <a:prstGeom prst="rect">
            <a:avLst/>
          </a:prstGeom>
          <a:noFill/>
          <a:ln/>
        </p:spPr>
        <p:txBody>
          <a:bodyPr wrap="square" lIns="0" tIns="0" rIns="0" bIns="0" rtlCol="0" anchor="ctr"/>
          <a:lstStyle/>
          <a:p>
            <a:pPr marL="0" indent="0">
              <a:lnSpc>
                <a:spcPts val="1600"/>
              </a:lnSpc>
              <a:buNone/>
            </a:pPr>
            <a:r>
              <a:rPr lang="en-US" sz="1200" dirty="0">
                <a:solidFill>
                  <a:srgbClr val="6E6880"/>
                </a:solidFill>
                <a:latin typeface="Calibri" pitchFamily="34" charset="0"/>
                <a:ea typeface="Calibri" pitchFamily="34" charset="-122"/>
                <a:cs typeface="Calibri" pitchFamily="34" charset="-120"/>
              </a:rPr>
              <a:t>Volumes arrive through voice, email and complaint channels. Sizing the opportunity — rather than describing the technology — was what made the business case.</a:t>
            </a:r>
            <a:endParaRPr lang="en-US" sz="1200" dirty="0"/>
          </a:p>
        </p:txBody>
      </p:sp>
      <p:sp>
        <p:nvSpPr>
          <p:cNvPr id="7" name="Shape 4"/>
          <p:cNvSpPr/>
          <p:nvPr/>
        </p:nvSpPr>
        <p:spPr>
          <a:xfrm>
            <a:off x="594360" y="5138928"/>
            <a:ext cx="4937760" cy="548640"/>
          </a:xfrm>
          <a:prstGeom prst="roundRect">
            <a:avLst>
              <a:gd name="adj" fmla="val 11667"/>
            </a:avLst>
          </a:prstGeom>
          <a:solidFill>
            <a:srgbClr val="F0EBF7"/>
          </a:solidFill>
          <a:ln w="12700">
            <a:solidFill>
              <a:srgbClr val="E2D9EF"/>
            </a:solidFill>
            <a:prstDash val="solid"/>
          </a:ln>
        </p:spPr>
      </p:sp>
      <p:sp>
        <p:nvSpPr>
          <p:cNvPr id="8" name="Text 5"/>
          <p:cNvSpPr txBox="1"/>
          <p:nvPr/>
        </p:nvSpPr>
        <p:spPr>
          <a:xfrm>
            <a:off x="795528" y="5193792"/>
            <a:ext cx="1874520" cy="219456"/>
          </a:xfrm>
          <a:prstGeom prst="rect">
            <a:avLst/>
          </a:prstGeom>
          <a:noFill/>
          <a:ln/>
        </p:spPr>
        <p:txBody>
          <a:bodyPr wrap="square" lIns="0" tIns="0" rIns="0" bIns="0" rtlCol="0" anchor="ctr"/>
          <a:lstStyle/>
          <a:p>
            <a:pPr marL="0" indent="0">
              <a:buNone/>
            </a:pPr>
            <a:r>
              <a:rPr lang="en-US" sz="1150" b="1" dirty="0">
                <a:solidFill>
                  <a:srgbClr val="3B1E5F"/>
                </a:solidFill>
                <a:latin typeface="Calibri" pitchFamily="34" charset="0"/>
                <a:ea typeface="Calibri" pitchFamily="34" charset="-122"/>
                <a:cs typeface="Calibri" pitchFamily="34" charset="-120"/>
              </a:rPr>
              <a:t>ETB — Existing to Bank</a:t>
            </a:r>
            <a:endParaRPr lang="en-US" sz="1150" dirty="0"/>
          </a:p>
        </p:txBody>
      </p:sp>
      <p:sp>
        <p:nvSpPr>
          <p:cNvPr id="9" name="Text 6"/>
          <p:cNvSpPr txBox="1"/>
          <p:nvPr/>
        </p:nvSpPr>
        <p:spPr>
          <a:xfrm>
            <a:off x="795528" y="5404104"/>
            <a:ext cx="4572000" cy="237744"/>
          </a:xfrm>
          <a:prstGeom prst="rect">
            <a:avLst/>
          </a:prstGeom>
          <a:noFill/>
          <a:ln/>
        </p:spPr>
        <p:txBody>
          <a:bodyPr wrap="square" lIns="0" tIns="0" rIns="0" bIns="0" rtlCol="0" anchor="ctr"/>
          <a:lstStyle/>
          <a:p>
            <a:pPr marL="0" indent="0">
              <a:buNone/>
            </a:pPr>
            <a:r>
              <a:rPr lang="en-US" sz="1050" dirty="0">
                <a:solidFill>
                  <a:srgbClr val="26262E"/>
                </a:solidFill>
                <a:latin typeface="Calibri" pitchFamily="34" charset="0"/>
                <a:ea typeface="Calibri" pitchFamily="34" charset="-122"/>
                <a:cs typeface="Calibri" pitchFamily="34" charset="-120"/>
              </a:rPr>
              <a:t>Registered email or mobile — details fetched directly after verification</a:t>
            </a:r>
            <a:endParaRPr lang="en-US" sz="1050" dirty="0"/>
          </a:p>
        </p:txBody>
      </p:sp>
      <p:sp>
        <p:nvSpPr>
          <p:cNvPr id="10" name="Shape 7"/>
          <p:cNvSpPr/>
          <p:nvPr/>
        </p:nvSpPr>
        <p:spPr>
          <a:xfrm>
            <a:off x="594360" y="5797296"/>
            <a:ext cx="4937760" cy="548640"/>
          </a:xfrm>
          <a:prstGeom prst="roundRect">
            <a:avLst>
              <a:gd name="adj" fmla="val 11667"/>
            </a:avLst>
          </a:prstGeom>
          <a:solidFill>
            <a:srgbClr val="F0EBF7"/>
          </a:solidFill>
          <a:ln w="12700">
            <a:solidFill>
              <a:srgbClr val="E2D9EF"/>
            </a:solidFill>
            <a:prstDash val="solid"/>
          </a:ln>
        </p:spPr>
      </p:sp>
      <p:sp>
        <p:nvSpPr>
          <p:cNvPr id="11" name="Text 8"/>
          <p:cNvSpPr txBox="1"/>
          <p:nvPr/>
        </p:nvSpPr>
        <p:spPr>
          <a:xfrm>
            <a:off x="795528" y="5852160"/>
            <a:ext cx="1874520" cy="219456"/>
          </a:xfrm>
          <a:prstGeom prst="rect">
            <a:avLst/>
          </a:prstGeom>
          <a:noFill/>
          <a:ln/>
        </p:spPr>
        <p:txBody>
          <a:bodyPr wrap="square" lIns="0" tIns="0" rIns="0" bIns="0" rtlCol="0" anchor="ctr"/>
          <a:lstStyle/>
          <a:p>
            <a:pPr marL="0" indent="0">
              <a:buNone/>
            </a:pPr>
            <a:r>
              <a:rPr lang="en-US" sz="1150" b="1" dirty="0">
                <a:solidFill>
                  <a:srgbClr val="3B1E5F"/>
                </a:solidFill>
                <a:latin typeface="Calibri" pitchFamily="34" charset="0"/>
                <a:ea typeface="Calibri" pitchFamily="34" charset="-122"/>
                <a:cs typeface="Calibri" pitchFamily="34" charset="-120"/>
              </a:rPr>
              <a:t>NTB — New to Bank</a:t>
            </a:r>
            <a:endParaRPr lang="en-US" sz="1150" dirty="0"/>
          </a:p>
        </p:txBody>
      </p:sp>
      <p:sp>
        <p:nvSpPr>
          <p:cNvPr id="12" name="Text 9"/>
          <p:cNvSpPr txBox="1"/>
          <p:nvPr/>
        </p:nvSpPr>
        <p:spPr>
          <a:xfrm>
            <a:off x="795528" y="6062472"/>
            <a:ext cx="4572000" cy="237744"/>
          </a:xfrm>
          <a:prstGeom prst="rect">
            <a:avLst/>
          </a:prstGeom>
          <a:noFill/>
          <a:ln/>
        </p:spPr>
        <p:txBody>
          <a:bodyPr wrap="square" lIns="0" tIns="0" rIns="0" bIns="0" rtlCol="0" anchor="ctr"/>
          <a:lstStyle/>
          <a:p>
            <a:pPr marL="0" indent="0">
              <a:buNone/>
            </a:pPr>
            <a:r>
              <a:rPr lang="en-US" sz="1050" dirty="0">
                <a:solidFill>
                  <a:srgbClr val="26262E"/>
                </a:solidFill>
                <a:latin typeface="Calibri" pitchFamily="34" charset="0"/>
                <a:ea typeface="Calibri" pitchFamily="34" charset="-122"/>
                <a:cs typeface="Calibri" pitchFamily="34" charset="-120"/>
              </a:rPr>
              <a:t>Unregistered sender — prompted for a registered email or mobile first</a:t>
            </a:r>
            <a:endParaRPr lang="en-US" sz="1050" dirty="0"/>
          </a:p>
        </p:txBody>
      </p:sp>
      <p:sp>
        <p:nvSpPr>
          <p:cNvPr id="13" name="Text 10"/>
          <p:cNvSpPr txBox="1"/>
          <p:nvPr/>
        </p:nvSpPr>
        <p:spPr>
          <a:xfrm>
            <a:off x="6339840" y="1182796"/>
            <a:ext cx="5394960" cy="292608"/>
          </a:xfrm>
          <a:prstGeom prst="rect">
            <a:avLst/>
          </a:prstGeom>
          <a:noFill/>
          <a:ln/>
        </p:spPr>
        <p:txBody>
          <a:bodyPr wrap="square" lIns="0" tIns="0" rIns="0" bIns="0" rtlCol="0" anchor="ctr"/>
          <a:lstStyle/>
          <a:p>
            <a:pPr marL="0" indent="0">
              <a:buNone/>
            </a:pPr>
            <a:r>
              <a:rPr lang="en-US" sz="1500" b="1" dirty="0">
                <a:solidFill>
                  <a:srgbClr val="F26522"/>
                </a:solidFill>
                <a:latin typeface="Calibri" pitchFamily="34" charset="0"/>
                <a:ea typeface="Calibri" pitchFamily="34" charset="-122"/>
                <a:cs typeface="Calibri" pitchFamily="34" charset="-120"/>
              </a:rPr>
              <a:t>Discovery-to-design sequence</a:t>
            </a:r>
            <a:endParaRPr lang="en-US" sz="1500" dirty="0"/>
          </a:p>
        </p:txBody>
      </p:sp>
      <p:sp>
        <p:nvSpPr>
          <p:cNvPr id="14" name="Shape 11"/>
          <p:cNvSpPr/>
          <p:nvPr/>
        </p:nvSpPr>
        <p:spPr>
          <a:xfrm>
            <a:off x="6339840" y="1594276"/>
            <a:ext cx="384048" cy="384048"/>
          </a:xfrm>
          <a:prstGeom prst="ellipse">
            <a:avLst/>
          </a:prstGeom>
          <a:solidFill>
            <a:srgbClr val="3B1E5F"/>
          </a:solidFill>
          <a:ln w="12700">
            <a:solidFill>
              <a:srgbClr val="FFFFFF"/>
            </a:solidFill>
            <a:prstDash val="solid"/>
          </a:ln>
        </p:spPr>
      </p:sp>
      <p:sp>
        <p:nvSpPr>
          <p:cNvPr id="15" name="Text 12"/>
          <p:cNvSpPr txBox="1"/>
          <p:nvPr/>
        </p:nvSpPr>
        <p:spPr>
          <a:xfrm>
            <a:off x="6339840" y="1658284"/>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Shape 13"/>
          <p:cNvSpPr/>
          <p:nvPr/>
        </p:nvSpPr>
        <p:spPr>
          <a:xfrm>
            <a:off x="6518148" y="1978324"/>
            <a:ext cx="27432" cy="338328"/>
          </a:xfrm>
          <a:prstGeom prst="rect">
            <a:avLst/>
          </a:prstGeom>
          <a:solidFill>
            <a:srgbClr val="E2D9EF"/>
          </a:solidFill>
          <a:ln w="12700">
            <a:solidFill>
              <a:srgbClr val="E2D9EF"/>
            </a:solidFill>
            <a:prstDash val="solid"/>
          </a:ln>
        </p:spPr>
      </p:sp>
      <p:sp>
        <p:nvSpPr>
          <p:cNvPr id="17" name="Text 14"/>
          <p:cNvSpPr txBox="1"/>
          <p:nvPr/>
        </p:nvSpPr>
        <p:spPr>
          <a:xfrm>
            <a:off x="6888480" y="1575988"/>
            <a:ext cx="4846320" cy="246888"/>
          </a:xfrm>
          <a:prstGeom prst="rect">
            <a:avLst/>
          </a:prstGeom>
          <a:noFill/>
          <a:ln/>
        </p:spPr>
        <p:txBody>
          <a:bodyPr wrap="square" lIns="0" tIns="0" rIns="0" bIns="0" rtlCol="0" anchor="ctr"/>
          <a:lstStyle/>
          <a:p>
            <a:pPr marL="0" indent="0">
              <a:buNone/>
            </a:pPr>
            <a:r>
              <a:rPr lang="en-US" sz="1300" b="1" dirty="0">
                <a:solidFill>
                  <a:srgbClr val="3B1E5F"/>
                </a:solidFill>
                <a:latin typeface="Calibri" pitchFamily="34" charset="0"/>
                <a:ea typeface="Calibri" pitchFamily="34" charset="-122"/>
                <a:cs typeface="Calibri" pitchFamily="34" charset="-120"/>
              </a:rPr>
              <a:t>Stakeholder mapping</a:t>
            </a:r>
            <a:endParaRPr lang="en-US" sz="1300" dirty="0"/>
          </a:p>
        </p:txBody>
      </p:sp>
      <p:sp>
        <p:nvSpPr>
          <p:cNvPr id="18" name="Text 15"/>
          <p:cNvSpPr txBox="1"/>
          <p:nvPr/>
        </p:nvSpPr>
        <p:spPr>
          <a:xfrm>
            <a:off x="6888480" y="1822876"/>
            <a:ext cx="4846320" cy="256032"/>
          </a:xfrm>
          <a:prstGeom prst="rect">
            <a:avLst/>
          </a:prstGeom>
          <a:noFill/>
          <a:ln/>
        </p:spPr>
        <p:txBody>
          <a:bodyPr wrap="square" lIns="0" tIns="0" rIns="0" bIns="0" rtlCol="0" anchor="ctr"/>
          <a:lstStyle/>
          <a:p>
            <a:pPr marL="0" indent="0">
              <a:buNone/>
            </a:pPr>
            <a:r>
              <a:rPr lang="en-US" sz="1100" dirty="0">
                <a:solidFill>
                  <a:srgbClr val="6E6880"/>
                </a:solidFill>
                <a:latin typeface="Calibri" pitchFamily="34" charset="0"/>
                <a:ea typeface="Calibri" pitchFamily="34" charset="-122"/>
                <a:cs typeface="Calibri" pitchFamily="34" charset="-120"/>
              </a:rPr>
              <a:t>Identify process owners across HR, Legal and Customer Service</a:t>
            </a:r>
            <a:endParaRPr lang="en-US" sz="1100" dirty="0"/>
          </a:p>
        </p:txBody>
      </p:sp>
      <p:sp>
        <p:nvSpPr>
          <p:cNvPr id="19" name="Shape 16"/>
          <p:cNvSpPr/>
          <p:nvPr/>
        </p:nvSpPr>
        <p:spPr>
          <a:xfrm>
            <a:off x="6339840" y="2316652"/>
            <a:ext cx="384048" cy="384048"/>
          </a:xfrm>
          <a:prstGeom prst="ellipse">
            <a:avLst/>
          </a:prstGeom>
          <a:solidFill>
            <a:srgbClr val="3B1E5F"/>
          </a:solidFill>
          <a:ln w="12700">
            <a:solidFill>
              <a:srgbClr val="FFFFFF"/>
            </a:solidFill>
            <a:prstDash val="solid"/>
          </a:ln>
        </p:spPr>
      </p:sp>
      <p:sp>
        <p:nvSpPr>
          <p:cNvPr id="20" name="Text 17"/>
          <p:cNvSpPr txBox="1"/>
          <p:nvPr/>
        </p:nvSpPr>
        <p:spPr>
          <a:xfrm>
            <a:off x="6339840" y="2380660"/>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Shape 18"/>
          <p:cNvSpPr/>
          <p:nvPr/>
        </p:nvSpPr>
        <p:spPr>
          <a:xfrm>
            <a:off x="6518148" y="2700700"/>
            <a:ext cx="27432" cy="338328"/>
          </a:xfrm>
          <a:prstGeom prst="rect">
            <a:avLst/>
          </a:prstGeom>
          <a:solidFill>
            <a:srgbClr val="E2D9EF"/>
          </a:solidFill>
          <a:ln w="12700">
            <a:solidFill>
              <a:srgbClr val="E2D9EF"/>
            </a:solidFill>
            <a:prstDash val="solid"/>
          </a:ln>
        </p:spPr>
      </p:sp>
      <p:sp>
        <p:nvSpPr>
          <p:cNvPr id="22" name="Text 19"/>
          <p:cNvSpPr txBox="1"/>
          <p:nvPr/>
        </p:nvSpPr>
        <p:spPr>
          <a:xfrm>
            <a:off x="6888480" y="2298364"/>
            <a:ext cx="4846320" cy="246888"/>
          </a:xfrm>
          <a:prstGeom prst="rect">
            <a:avLst/>
          </a:prstGeom>
          <a:noFill/>
          <a:ln/>
        </p:spPr>
        <p:txBody>
          <a:bodyPr wrap="square" lIns="0" tIns="0" rIns="0" bIns="0" rtlCol="0" anchor="ctr"/>
          <a:lstStyle/>
          <a:p>
            <a:pPr marL="0" indent="0">
              <a:buNone/>
            </a:pPr>
            <a:r>
              <a:rPr lang="en-US" sz="1300" b="1" dirty="0">
                <a:solidFill>
                  <a:srgbClr val="3B1E5F"/>
                </a:solidFill>
                <a:latin typeface="Calibri" pitchFamily="34" charset="0"/>
                <a:ea typeface="Calibri" pitchFamily="34" charset="-122"/>
                <a:cs typeface="Calibri" pitchFamily="34" charset="-120"/>
              </a:rPr>
              <a:t>Process walkthroughs</a:t>
            </a:r>
            <a:endParaRPr lang="en-US" sz="1300" dirty="0"/>
          </a:p>
        </p:txBody>
      </p:sp>
      <p:sp>
        <p:nvSpPr>
          <p:cNvPr id="23" name="Text 20"/>
          <p:cNvSpPr txBox="1"/>
          <p:nvPr/>
        </p:nvSpPr>
        <p:spPr>
          <a:xfrm>
            <a:off x="6888480" y="2545252"/>
            <a:ext cx="4846320" cy="256032"/>
          </a:xfrm>
          <a:prstGeom prst="rect">
            <a:avLst/>
          </a:prstGeom>
          <a:noFill/>
          <a:ln/>
        </p:spPr>
        <p:txBody>
          <a:bodyPr wrap="square" lIns="0" tIns="0" rIns="0" bIns="0" rtlCol="0" anchor="ctr"/>
          <a:lstStyle/>
          <a:p>
            <a:pPr marL="0" indent="0">
              <a:buNone/>
            </a:pPr>
            <a:r>
              <a:rPr lang="en-US" sz="1100" dirty="0">
                <a:solidFill>
                  <a:srgbClr val="6E6880"/>
                </a:solidFill>
                <a:latin typeface="Calibri" pitchFamily="34" charset="0"/>
                <a:ea typeface="Calibri" pitchFamily="34" charset="-122"/>
                <a:cs typeface="Calibri" pitchFamily="34" charset="-120"/>
              </a:rPr>
              <a:t>Document workflows end to end; locate effort and delay</a:t>
            </a:r>
            <a:endParaRPr lang="en-US" sz="1100" dirty="0"/>
          </a:p>
        </p:txBody>
      </p:sp>
      <p:sp>
        <p:nvSpPr>
          <p:cNvPr id="24" name="Shape 21"/>
          <p:cNvSpPr/>
          <p:nvPr/>
        </p:nvSpPr>
        <p:spPr>
          <a:xfrm>
            <a:off x="6339840" y="3039028"/>
            <a:ext cx="384048" cy="384048"/>
          </a:xfrm>
          <a:prstGeom prst="ellipse">
            <a:avLst/>
          </a:prstGeom>
          <a:solidFill>
            <a:srgbClr val="3B1E5F"/>
          </a:solidFill>
          <a:ln w="12700">
            <a:solidFill>
              <a:srgbClr val="FFFFFF"/>
            </a:solidFill>
            <a:prstDash val="solid"/>
          </a:ln>
        </p:spPr>
      </p:sp>
      <p:sp>
        <p:nvSpPr>
          <p:cNvPr id="25" name="Text 22"/>
          <p:cNvSpPr txBox="1"/>
          <p:nvPr/>
        </p:nvSpPr>
        <p:spPr>
          <a:xfrm>
            <a:off x="6339840" y="3103036"/>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Shape 23"/>
          <p:cNvSpPr/>
          <p:nvPr/>
        </p:nvSpPr>
        <p:spPr>
          <a:xfrm>
            <a:off x="6518148" y="3423076"/>
            <a:ext cx="27432" cy="338328"/>
          </a:xfrm>
          <a:prstGeom prst="rect">
            <a:avLst/>
          </a:prstGeom>
          <a:solidFill>
            <a:srgbClr val="E2D9EF"/>
          </a:solidFill>
          <a:ln w="12700">
            <a:solidFill>
              <a:srgbClr val="E2D9EF"/>
            </a:solidFill>
            <a:prstDash val="solid"/>
          </a:ln>
        </p:spPr>
      </p:sp>
      <p:sp>
        <p:nvSpPr>
          <p:cNvPr id="27" name="Text 24"/>
          <p:cNvSpPr txBox="1"/>
          <p:nvPr/>
        </p:nvSpPr>
        <p:spPr>
          <a:xfrm>
            <a:off x="6888480" y="3020740"/>
            <a:ext cx="4846320" cy="246888"/>
          </a:xfrm>
          <a:prstGeom prst="rect">
            <a:avLst/>
          </a:prstGeom>
          <a:noFill/>
          <a:ln/>
        </p:spPr>
        <p:txBody>
          <a:bodyPr wrap="square" lIns="0" tIns="0" rIns="0" bIns="0" rtlCol="0" anchor="ctr"/>
          <a:lstStyle/>
          <a:p>
            <a:pPr marL="0" indent="0">
              <a:buNone/>
            </a:pPr>
            <a:r>
              <a:rPr lang="en-US" sz="1300" b="1" dirty="0">
                <a:solidFill>
                  <a:srgbClr val="3B1E5F"/>
                </a:solidFill>
                <a:latin typeface="Calibri" pitchFamily="34" charset="0"/>
                <a:ea typeface="Calibri" pitchFamily="34" charset="-122"/>
                <a:cs typeface="Calibri" pitchFamily="34" charset="-120"/>
              </a:rPr>
              <a:t>Volume quantification</a:t>
            </a:r>
            <a:endParaRPr lang="en-US" sz="1300" dirty="0"/>
          </a:p>
        </p:txBody>
      </p:sp>
      <p:sp>
        <p:nvSpPr>
          <p:cNvPr id="28" name="Text 25"/>
          <p:cNvSpPr txBox="1"/>
          <p:nvPr/>
        </p:nvSpPr>
        <p:spPr>
          <a:xfrm>
            <a:off x="6888480" y="3267628"/>
            <a:ext cx="4846320" cy="256032"/>
          </a:xfrm>
          <a:prstGeom prst="rect">
            <a:avLst/>
          </a:prstGeom>
          <a:noFill/>
          <a:ln/>
        </p:spPr>
        <p:txBody>
          <a:bodyPr wrap="square" lIns="0" tIns="0" rIns="0" bIns="0" rtlCol="0" anchor="ctr"/>
          <a:lstStyle/>
          <a:p>
            <a:pPr marL="0" indent="0">
              <a:buNone/>
            </a:pPr>
            <a:r>
              <a:rPr lang="en-US" sz="1100" dirty="0">
                <a:solidFill>
                  <a:srgbClr val="6E6880"/>
                </a:solidFill>
                <a:latin typeface="Calibri" pitchFamily="34" charset="0"/>
                <a:ea typeface="Calibri" pitchFamily="34" charset="-122"/>
                <a:cs typeface="Calibri" pitchFamily="34" charset="-120"/>
              </a:rPr>
              <a:t>Size each process — Customer Service prioritised</a:t>
            </a:r>
            <a:endParaRPr lang="en-US" sz="1100" dirty="0"/>
          </a:p>
        </p:txBody>
      </p:sp>
      <p:sp>
        <p:nvSpPr>
          <p:cNvPr id="29" name="Shape 26"/>
          <p:cNvSpPr/>
          <p:nvPr/>
        </p:nvSpPr>
        <p:spPr>
          <a:xfrm>
            <a:off x="6339840" y="3761404"/>
            <a:ext cx="384048" cy="384048"/>
          </a:xfrm>
          <a:prstGeom prst="ellipse">
            <a:avLst/>
          </a:prstGeom>
          <a:solidFill>
            <a:srgbClr val="3B1E5F"/>
          </a:solidFill>
          <a:ln w="12700">
            <a:solidFill>
              <a:srgbClr val="FFFFFF"/>
            </a:solidFill>
            <a:prstDash val="solid"/>
          </a:ln>
        </p:spPr>
      </p:sp>
      <p:sp>
        <p:nvSpPr>
          <p:cNvPr id="30" name="Text 27"/>
          <p:cNvSpPr txBox="1"/>
          <p:nvPr/>
        </p:nvSpPr>
        <p:spPr>
          <a:xfrm>
            <a:off x="6339840" y="3825412"/>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Shape 28"/>
          <p:cNvSpPr/>
          <p:nvPr/>
        </p:nvSpPr>
        <p:spPr>
          <a:xfrm>
            <a:off x="6518148" y="4145452"/>
            <a:ext cx="27432" cy="338328"/>
          </a:xfrm>
          <a:prstGeom prst="rect">
            <a:avLst/>
          </a:prstGeom>
          <a:solidFill>
            <a:srgbClr val="E2D9EF"/>
          </a:solidFill>
          <a:ln w="12700">
            <a:solidFill>
              <a:srgbClr val="E2D9EF"/>
            </a:solidFill>
            <a:prstDash val="solid"/>
          </a:ln>
        </p:spPr>
      </p:sp>
      <p:sp>
        <p:nvSpPr>
          <p:cNvPr id="32" name="Text 29"/>
          <p:cNvSpPr txBox="1"/>
          <p:nvPr/>
        </p:nvSpPr>
        <p:spPr>
          <a:xfrm>
            <a:off x="6888480" y="3743116"/>
            <a:ext cx="4846320" cy="246888"/>
          </a:xfrm>
          <a:prstGeom prst="rect">
            <a:avLst/>
          </a:prstGeom>
          <a:noFill/>
          <a:ln/>
        </p:spPr>
        <p:txBody>
          <a:bodyPr wrap="square" lIns="0" tIns="0" rIns="0" bIns="0" rtlCol="0" anchor="ctr"/>
          <a:lstStyle/>
          <a:p>
            <a:pPr marL="0" indent="0">
              <a:buNone/>
            </a:pPr>
            <a:r>
              <a:rPr lang="en-US" sz="1300" b="1" dirty="0">
                <a:solidFill>
                  <a:srgbClr val="3B1E5F"/>
                </a:solidFill>
                <a:latin typeface="Calibri" pitchFamily="34" charset="0"/>
                <a:ea typeface="Calibri" pitchFamily="34" charset="-122"/>
                <a:cs typeface="Calibri" pitchFamily="34" charset="-120"/>
              </a:rPr>
              <a:t>Segmentation of intent</a:t>
            </a:r>
            <a:endParaRPr lang="en-US" sz="1300" dirty="0"/>
          </a:p>
        </p:txBody>
      </p:sp>
      <p:sp>
        <p:nvSpPr>
          <p:cNvPr id="33" name="Text 30"/>
          <p:cNvSpPr txBox="1"/>
          <p:nvPr/>
        </p:nvSpPr>
        <p:spPr>
          <a:xfrm>
            <a:off x="6888480" y="3990004"/>
            <a:ext cx="4846320" cy="256032"/>
          </a:xfrm>
          <a:prstGeom prst="rect">
            <a:avLst/>
          </a:prstGeom>
          <a:noFill/>
          <a:ln/>
        </p:spPr>
        <p:txBody>
          <a:bodyPr wrap="square" lIns="0" tIns="0" rIns="0" bIns="0" rtlCol="0" anchor="ctr"/>
          <a:lstStyle/>
          <a:p>
            <a:pPr marL="0" indent="0">
              <a:buNone/>
            </a:pPr>
            <a:r>
              <a:rPr lang="en-US" sz="1100" dirty="0">
                <a:solidFill>
                  <a:srgbClr val="6E6880"/>
                </a:solidFill>
                <a:latin typeface="Calibri" pitchFamily="34" charset="0"/>
                <a:ea typeface="Calibri" pitchFamily="34" charset="-122"/>
                <a:cs typeface="Calibri" pitchFamily="34" charset="-120"/>
              </a:rPr>
              <a:t>Split data-retrieval queries from judgement-led cases</a:t>
            </a:r>
            <a:endParaRPr lang="en-US" sz="1100" dirty="0"/>
          </a:p>
        </p:txBody>
      </p:sp>
      <p:sp>
        <p:nvSpPr>
          <p:cNvPr id="34" name="Shape 31"/>
          <p:cNvSpPr/>
          <p:nvPr/>
        </p:nvSpPr>
        <p:spPr>
          <a:xfrm>
            <a:off x="6339840" y="4483780"/>
            <a:ext cx="384048" cy="384048"/>
          </a:xfrm>
          <a:prstGeom prst="ellipse">
            <a:avLst/>
          </a:prstGeom>
          <a:solidFill>
            <a:srgbClr val="3B1E5F"/>
          </a:solidFill>
          <a:ln w="12700">
            <a:solidFill>
              <a:srgbClr val="FFFFFF"/>
            </a:solidFill>
            <a:prstDash val="solid"/>
          </a:ln>
        </p:spPr>
      </p:sp>
      <p:sp>
        <p:nvSpPr>
          <p:cNvPr id="35" name="Text 32"/>
          <p:cNvSpPr txBox="1"/>
          <p:nvPr/>
        </p:nvSpPr>
        <p:spPr>
          <a:xfrm>
            <a:off x="6339840" y="4547788"/>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6" name="Shape 33"/>
          <p:cNvSpPr/>
          <p:nvPr/>
        </p:nvSpPr>
        <p:spPr>
          <a:xfrm>
            <a:off x="6518148" y="4867828"/>
            <a:ext cx="27432" cy="338328"/>
          </a:xfrm>
          <a:prstGeom prst="rect">
            <a:avLst/>
          </a:prstGeom>
          <a:solidFill>
            <a:srgbClr val="E2D9EF"/>
          </a:solidFill>
          <a:ln w="12700">
            <a:solidFill>
              <a:srgbClr val="E2D9EF"/>
            </a:solidFill>
            <a:prstDash val="solid"/>
          </a:ln>
        </p:spPr>
      </p:sp>
      <p:sp>
        <p:nvSpPr>
          <p:cNvPr id="37" name="Text 34"/>
          <p:cNvSpPr txBox="1"/>
          <p:nvPr/>
        </p:nvSpPr>
        <p:spPr>
          <a:xfrm>
            <a:off x="6888480" y="4465492"/>
            <a:ext cx="4846320" cy="246888"/>
          </a:xfrm>
          <a:prstGeom prst="rect">
            <a:avLst/>
          </a:prstGeom>
          <a:noFill/>
          <a:ln/>
        </p:spPr>
        <p:txBody>
          <a:bodyPr wrap="square" lIns="0" tIns="0" rIns="0" bIns="0" rtlCol="0" anchor="ctr"/>
          <a:lstStyle/>
          <a:p>
            <a:pPr marL="0" indent="0">
              <a:buNone/>
            </a:pPr>
            <a:r>
              <a:rPr lang="en-US" sz="1300" b="1" dirty="0">
                <a:solidFill>
                  <a:srgbClr val="3B1E5F"/>
                </a:solidFill>
                <a:latin typeface="Calibri" pitchFamily="34" charset="0"/>
                <a:ea typeface="Calibri" pitchFamily="34" charset="-122"/>
                <a:cs typeface="Calibri" pitchFamily="34" charset="-120"/>
              </a:rPr>
              <a:t>Solution design</a:t>
            </a:r>
            <a:endParaRPr lang="en-US" sz="1300" dirty="0"/>
          </a:p>
        </p:txBody>
      </p:sp>
      <p:sp>
        <p:nvSpPr>
          <p:cNvPr id="38" name="Text 35"/>
          <p:cNvSpPr txBox="1"/>
          <p:nvPr/>
        </p:nvSpPr>
        <p:spPr>
          <a:xfrm>
            <a:off x="6888480" y="4712380"/>
            <a:ext cx="4846320" cy="256032"/>
          </a:xfrm>
          <a:prstGeom prst="rect">
            <a:avLst/>
          </a:prstGeom>
          <a:noFill/>
          <a:ln/>
        </p:spPr>
        <p:txBody>
          <a:bodyPr wrap="square" lIns="0" tIns="0" rIns="0" bIns="0" rtlCol="0" anchor="ctr"/>
          <a:lstStyle/>
          <a:p>
            <a:pPr marL="0" indent="0">
              <a:buNone/>
            </a:pPr>
            <a:r>
              <a:rPr lang="en-US" sz="1100" dirty="0">
                <a:solidFill>
                  <a:srgbClr val="6E6880"/>
                </a:solidFill>
                <a:latin typeface="Calibri" pitchFamily="34" charset="0"/>
                <a:ea typeface="Calibri" pitchFamily="34" charset="-122"/>
                <a:cs typeface="Calibri" pitchFamily="34" charset="-120"/>
              </a:rPr>
              <a:t>Bot layer above CBS; ETB/NTB branching for compliant auth</a:t>
            </a:r>
            <a:endParaRPr lang="en-US" sz="1100" dirty="0"/>
          </a:p>
        </p:txBody>
      </p:sp>
      <p:sp>
        <p:nvSpPr>
          <p:cNvPr id="39" name="Shape 36"/>
          <p:cNvSpPr/>
          <p:nvPr/>
        </p:nvSpPr>
        <p:spPr>
          <a:xfrm>
            <a:off x="6339840" y="5206156"/>
            <a:ext cx="384048" cy="384048"/>
          </a:xfrm>
          <a:prstGeom prst="ellipse">
            <a:avLst/>
          </a:prstGeom>
          <a:solidFill>
            <a:srgbClr val="F26522"/>
          </a:solidFill>
          <a:ln w="12700">
            <a:solidFill>
              <a:srgbClr val="FFFFFF"/>
            </a:solidFill>
            <a:prstDash val="solid"/>
          </a:ln>
        </p:spPr>
      </p:sp>
      <p:sp>
        <p:nvSpPr>
          <p:cNvPr id="40" name="Text 37"/>
          <p:cNvSpPr txBox="1"/>
          <p:nvPr/>
        </p:nvSpPr>
        <p:spPr>
          <a:xfrm>
            <a:off x="6339840" y="5270164"/>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1" name="Text 38"/>
          <p:cNvSpPr txBox="1"/>
          <p:nvPr/>
        </p:nvSpPr>
        <p:spPr>
          <a:xfrm>
            <a:off x="6888480" y="5187868"/>
            <a:ext cx="4846320" cy="246888"/>
          </a:xfrm>
          <a:prstGeom prst="rect">
            <a:avLst/>
          </a:prstGeom>
          <a:noFill/>
          <a:ln/>
        </p:spPr>
        <p:txBody>
          <a:bodyPr wrap="square" lIns="0" tIns="0" rIns="0" bIns="0" rtlCol="0" anchor="ctr"/>
          <a:lstStyle/>
          <a:p>
            <a:pPr marL="0" indent="0">
              <a:buNone/>
            </a:pPr>
            <a:r>
              <a:rPr lang="en-US" sz="1300" b="1" dirty="0">
                <a:solidFill>
                  <a:srgbClr val="3B1E5F"/>
                </a:solidFill>
                <a:latin typeface="Calibri" pitchFamily="34" charset="0"/>
                <a:ea typeface="Calibri" pitchFamily="34" charset="-122"/>
                <a:cs typeface="Calibri" pitchFamily="34" charset="-120"/>
              </a:rPr>
              <a:t>Feasibility validation</a:t>
            </a:r>
            <a:endParaRPr lang="en-US" sz="1300" dirty="0"/>
          </a:p>
        </p:txBody>
      </p:sp>
      <p:sp>
        <p:nvSpPr>
          <p:cNvPr id="42" name="Text 39"/>
          <p:cNvSpPr txBox="1"/>
          <p:nvPr/>
        </p:nvSpPr>
        <p:spPr>
          <a:xfrm>
            <a:off x="6888480" y="5434756"/>
            <a:ext cx="4846320" cy="256032"/>
          </a:xfrm>
          <a:prstGeom prst="rect">
            <a:avLst/>
          </a:prstGeom>
          <a:noFill/>
          <a:ln/>
        </p:spPr>
        <p:txBody>
          <a:bodyPr wrap="square" lIns="0" tIns="0" rIns="0" bIns="0" rtlCol="0" anchor="ctr"/>
          <a:lstStyle/>
          <a:p>
            <a:pPr marL="0" indent="0">
              <a:buNone/>
            </a:pPr>
            <a:r>
              <a:rPr lang="en-US" sz="1100" dirty="0">
                <a:solidFill>
                  <a:srgbClr val="6E6880"/>
                </a:solidFill>
                <a:latin typeface="Calibri" pitchFamily="34" charset="0"/>
                <a:ea typeface="Calibri" pitchFamily="34" charset="-122"/>
                <a:cs typeface="Calibri" pitchFamily="34" charset="-120"/>
              </a:rPr>
              <a:t>Test against data availability and regulatory constraints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8778240" cy="566928"/>
          </a:xfrm>
          <a:prstGeom prst="rect">
            <a:avLst/>
          </a:prstGeom>
          <a:noFill/>
          <a:ln/>
        </p:spPr>
        <p:txBody>
          <a:bodyPr wrap="square" lIns="0" tIns="0" rIns="0" bIns="0" rtlCol="0" anchor="ctr"/>
          <a:lstStyle/>
          <a:p>
            <a:pPr marL="0" indent="0">
              <a:buNone/>
            </a:pPr>
            <a:r>
              <a:rPr lang="en-US" sz="3400" b="1" dirty="0">
                <a:solidFill>
                  <a:srgbClr val="3B1E5F"/>
                </a:solidFill>
                <a:latin typeface="Cambria" pitchFamily="34" charset="0"/>
                <a:ea typeface="Cambria" pitchFamily="34" charset="-122"/>
                <a:cs typeface="Cambria" pitchFamily="34" charset="-120"/>
              </a:rPr>
              <a:t>Challenges and Solutions</a:t>
            </a:r>
            <a:endParaRPr lang="en-US" sz="3400" dirty="0"/>
          </a:p>
        </p:txBody>
      </p:sp>
      <p:sp>
        <p:nvSpPr>
          <p:cNvPr id="3" name="Text 1"/>
          <p:cNvSpPr txBox="1"/>
          <p:nvPr/>
        </p:nvSpPr>
        <p:spPr>
          <a:xfrm>
            <a:off x="594360" y="960120"/>
            <a:ext cx="10058400" cy="320040"/>
          </a:xfrm>
          <a:prstGeom prst="rect">
            <a:avLst/>
          </a:prstGeom>
          <a:noFill/>
          <a:ln/>
        </p:spPr>
        <p:txBody>
          <a:bodyPr wrap="square" lIns="0" tIns="0" rIns="0" bIns="0" rtlCol="0" anchor="ctr"/>
          <a:lstStyle/>
          <a:p>
            <a:pPr marL="0" indent="0">
              <a:buNone/>
            </a:pPr>
            <a:r>
              <a:rPr lang="en-US" sz="1400" i="1" dirty="0">
                <a:solidFill>
                  <a:srgbClr val="6E6880"/>
                </a:solidFill>
                <a:latin typeface="Calibri" pitchFamily="34" charset="0"/>
                <a:ea typeface="Calibri" pitchFamily="34" charset="-122"/>
                <a:cs typeface="Calibri" pitchFamily="34" charset="-120"/>
              </a:rPr>
              <a:t>What made the work hard, and how each was addressed</a:t>
            </a:r>
            <a:endParaRPr lang="en-US" sz="1400" dirty="0"/>
          </a:p>
        </p:txBody>
      </p:sp>
      <p:sp>
        <p:nvSpPr>
          <p:cNvPr id="4" name="Shape 2"/>
          <p:cNvSpPr/>
          <p:nvPr/>
        </p:nvSpPr>
        <p:spPr>
          <a:xfrm>
            <a:off x="594360" y="1627632"/>
            <a:ext cx="5349240" cy="1965960"/>
          </a:xfrm>
          <a:prstGeom prst="roundRect">
            <a:avLst>
              <a:gd name="adj" fmla="val 4186"/>
            </a:avLst>
          </a:prstGeom>
          <a:solidFill>
            <a:srgbClr val="FFFFFF"/>
          </a:solidFill>
          <a:ln w="9525">
            <a:solidFill>
              <a:srgbClr val="E2D9EF"/>
            </a:solidFill>
            <a:prstDash val="solid"/>
          </a:ln>
        </p:spPr>
      </p:sp>
      <p:sp>
        <p:nvSpPr>
          <p:cNvPr id="5" name="Shape 3"/>
          <p:cNvSpPr/>
          <p:nvPr/>
        </p:nvSpPr>
        <p:spPr>
          <a:xfrm>
            <a:off x="850392" y="1865376"/>
            <a:ext cx="420624" cy="420624"/>
          </a:xfrm>
          <a:prstGeom prst="ellipse">
            <a:avLst/>
          </a:prstGeom>
          <a:solidFill>
            <a:srgbClr val="3B1E5F"/>
          </a:solidFill>
          <a:ln w="12700">
            <a:solidFill>
              <a:srgbClr val="3B1E5F"/>
            </a:solidFill>
            <a:prstDash val="solid"/>
          </a:ln>
        </p:spPr>
      </p:sp>
      <p:pic>
        <p:nvPicPr>
          <p:cNvPr id="6" name="Image 0" descr="preencoded.png"/>
          <p:cNvPicPr>
            <a:picLocks noChangeAspect="1"/>
          </p:cNvPicPr>
          <p:nvPr/>
        </p:nvPicPr>
        <p:blipFill>
          <a:blip r:embed="rId3"/>
          <a:stretch>
            <a:fillRect/>
          </a:stretch>
        </p:blipFill>
        <p:spPr>
          <a:xfrm>
            <a:off x="955548" y="1970532"/>
            <a:ext cx="210312" cy="210312"/>
          </a:xfrm>
          <a:prstGeom prst="rect">
            <a:avLst/>
          </a:prstGeom>
        </p:spPr>
      </p:pic>
      <p:sp>
        <p:nvSpPr>
          <p:cNvPr id="7" name="Text 4"/>
          <p:cNvSpPr txBox="1"/>
          <p:nvPr/>
        </p:nvSpPr>
        <p:spPr>
          <a:xfrm>
            <a:off x="1417320" y="1911096"/>
            <a:ext cx="42976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No fixed job description</a:t>
            </a:r>
            <a:endParaRPr lang="en-US" sz="1450" dirty="0"/>
          </a:p>
        </p:txBody>
      </p:sp>
      <p:sp>
        <p:nvSpPr>
          <p:cNvPr id="8" name="Text 5"/>
          <p:cNvSpPr txBox="1"/>
          <p:nvPr/>
        </p:nvSpPr>
        <p:spPr>
          <a:xfrm>
            <a:off x="850392" y="2414016"/>
            <a:ext cx="4846320" cy="457200"/>
          </a:xfrm>
          <a:prstGeom prst="rect">
            <a:avLst/>
          </a:prstGeom>
          <a:noFill/>
          <a:ln/>
        </p:spPr>
        <p:txBody>
          <a:bodyPr wrap="square" lIns="0" tIns="0" rIns="0" bIns="0" rtlCol="0" anchor="ctr"/>
          <a:lstStyle/>
          <a:p>
            <a:pPr marL="0" indent="0">
              <a:lnSpc>
                <a:spcPts val="1400"/>
              </a:lnSpc>
              <a:buNone/>
            </a:pPr>
            <a:r>
              <a:rPr lang="en-US" sz="1150" dirty="0">
                <a:solidFill>
                  <a:srgbClr val="6E6880"/>
                </a:solidFill>
                <a:latin typeface="Calibri" pitchFamily="34" charset="0"/>
                <a:ea typeface="Calibri" pitchFamily="34" charset="-122"/>
                <a:cs typeface="Calibri" pitchFamily="34" charset="-120"/>
              </a:rPr>
              <a:t>Priorities shifted daily — one day was spent entirely in meetings from 9 a.m. to 9 p.m., another on vendor finalisation.</a:t>
            </a:r>
            <a:endParaRPr lang="en-US" sz="1150" dirty="0"/>
          </a:p>
        </p:txBody>
      </p:sp>
      <p:sp>
        <p:nvSpPr>
          <p:cNvPr id="9" name="Shape 6"/>
          <p:cNvSpPr/>
          <p:nvPr/>
        </p:nvSpPr>
        <p:spPr>
          <a:xfrm>
            <a:off x="850392" y="2907792"/>
            <a:ext cx="4846320" cy="548640"/>
          </a:xfrm>
          <a:prstGeom prst="roundRect">
            <a:avLst>
              <a:gd name="adj" fmla="val 10000"/>
            </a:avLst>
          </a:prstGeom>
          <a:solidFill>
            <a:srgbClr val="F0EBF7"/>
          </a:solidFill>
          <a:ln w="12700">
            <a:solidFill>
              <a:srgbClr val="F0EBF7"/>
            </a:solidFill>
            <a:prstDash val="solid"/>
          </a:ln>
        </p:spPr>
      </p:sp>
      <p:sp>
        <p:nvSpPr>
          <p:cNvPr id="10" name="Text 7"/>
          <p:cNvSpPr txBox="1"/>
          <p:nvPr/>
        </p:nvSpPr>
        <p:spPr>
          <a:xfrm>
            <a:off x="996696" y="2971800"/>
            <a:ext cx="4572000" cy="438912"/>
          </a:xfrm>
          <a:prstGeom prst="rect">
            <a:avLst/>
          </a:prstGeom>
          <a:noFill/>
          <a:ln/>
        </p:spPr>
        <p:txBody>
          <a:bodyPr wrap="square" lIns="0" tIns="0" rIns="0" bIns="0" rtlCol="0" anchor="ctr"/>
          <a:lstStyle/>
          <a:p>
            <a:pPr marL="0" indent="0">
              <a:lnSpc>
                <a:spcPts val="1300"/>
              </a:lnSpc>
              <a:buNone/>
            </a:pPr>
            <a:r>
              <a:rPr lang="en-US" sz="1100" b="1" dirty="0">
                <a:solidFill>
                  <a:srgbClr val="F26522"/>
                </a:solidFill>
                <a:latin typeface="Calibri" pitchFamily="34" charset="0"/>
                <a:ea typeface="Calibri" pitchFamily="34" charset="-122"/>
                <a:cs typeface="Calibri" pitchFamily="34" charset="-120"/>
              </a:rPr>
              <a:t>Solution  </a:t>
            </a:r>
            <a:r>
              <a:rPr lang="en-US" sz="1100" dirty="0">
                <a:solidFill>
                  <a:srgbClr val="26262E"/>
                </a:solidFill>
                <a:latin typeface="Calibri" pitchFamily="34" charset="0"/>
                <a:ea typeface="Calibri" pitchFamily="34" charset="-122"/>
                <a:cs typeface="Calibri" pitchFamily="34" charset="-120"/>
              </a:rPr>
              <a:t>Kept a running tracker of open items across all projects and prioritised daily, so nothing was dropped when attention shifted.</a:t>
            </a:r>
            <a:endParaRPr lang="en-US" sz="1100" dirty="0"/>
          </a:p>
        </p:txBody>
      </p:sp>
      <p:sp>
        <p:nvSpPr>
          <p:cNvPr id="11" name="Shape 8"/>
          <p:cNvSpPr/>
          <p:nvPr/>
        </p:nvSpPr>
        <p:spPr>
          <a:xfrm>
            <a:off x="6263640" y="1627632"/>
            <a:ext cx="5349240" cy="1965960"/>
          </a:xfrm>
          <a:prstGeom prst="roundRect">
            <a:avLst>
              <a:gd name="adj" fmla="val 4186"/>
            </a:avLst>
          </a:prstGeom>
          <a:solidFill>
            <a:srgbClr val="FFFFFF"/>
          </a:solidFill>
          <a:ln w="9525">
            <a:solidFill>
              <a:srgbClr val="E2D9EF"/>
            </a:solidFill>
            <a:prstDash val="solid"/>
          </a:ln>
        </p:spPr>
      </p:sp>
      <p:sp>
        <p:nvSpPr>
          <p:cNvPr id="12" name="Shape 9"/>
          <p:cNvSpPr/>
          <p:nvPr/>
        </p:nvSpPr>
        <p:spPr>
          <a:xfrm>
            <a:off x="6519672" y="1865376"/>
            <a:ext cx="420624" cy="420624"/>
          </a:xfrm>
          <a:prstGeom prst="ellipse">
            <a:avLst/>
          </a:prstGeom>
          <a:solidFill>
            <a:srgbClr val="3B1E5F"/>
          </a:solidFill>
          <a:ln w="12700">
            <a:solidFill>
              <a:srgbClr val="3B1E5F"/>
            </a:solidFill>
            <a:prstDash val="solid"/>
          </a:ln>
        </p:spPr>
      </p:sp>
      <p:pic>
        <p:nvPicPr>
          <p:cNvPr id="13" name="Image 1" descr="preencoded.png"/>
          <p:cNvPicPr>
            <a:picLocks noChangeAspect="1"/>
          </p:cNvPicPr>
          <p:nvPr/>
        </p:nvPicPr>
        <p:blipFill>
          <a:blip r:embed="rId4"/>
          <a:stretch>
            <a:fillRect/>
          </a:stretch>
        </p:blipFill>
        <p:spPr>
          <a:xfrm>
            <a:off x="6624828" y="1970532"/>
            <a:ext cx="210312" cy="210312"/>
          </a:xfrm>
          <a:prstGeom prst="rect">
            <a:avLst/>
          </a:prstGeom>
        </p:spPr>
      </p:pic>
      <p:sp>
        <p:nvSpPr>
          <p:cNvPr id="14" name="Text 10"/>
          <p:cNvSpPr txBox="1"/>
          <p:nvPr/>
        </p:nvSpPr>
        <p:spPr>
          <a:xfrm>
            <a:off x="7086600" y="1911096"/>
            <a:ext cx="42976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Very senior stakeholders</a:t>
            </a:r>
            <a:endParaRPr lang="en-US" sz="1450" dirty="0"/>
          </a:p>
        </p:txBody>
      </p:sp>
      <p:sp>
        <p:nvSpPr>
          <p:cNvPr id="15" name="Text 11"/>
          <p:cNvSpPr txBox="1"/>
          <p:nvPr/>
        </p:nvSpPr>
        <p:spPr>
          <a:xfrm>
            <a:off x="6519672" y="2414016"/>
            <a:ext cx="4846320" cy="457200"/>
          </a:xfrm>
          <a:prstGeom prst="rect">
            <a:avLst/>
          </a:prstGeom>
          <a:noFill/>
          <a:ln/>
        </p:spPr>
        <p:txBody>
          <a:bodyPr wrap="square" lIns="0" tIns="0" rIns="0" bIns="0" rtlCol="0" anchor="ctr"/>
          <a:lstStyle/>
          <a:p>
            <a:pPr marL="0" indent="0">
              <a:lnSpc>
                <a:spcPts val="1400"/>
              </a:lnSpc>
              <a:buNone/>
            </a:pPr>
            <a:r>
              <a:rPr lang="en-US" sz="1150" dirty="0">
                <a:solidFill>
                  <a:srgbClr val="6E6880"/>
                </a:solidFill>
                <a:latin typeface="Calibri" pitchFamily="34" charset="0"/>
                <a:ea typeface="Calibri" pitchFamily="34" charset="-122"/>
                <a:cs typeface="Calibri" pitchFamily="34" charset="-120"/>
              </a:rPr>
              <a:t>Interacting with the Deputy CEO, COO, CIO and CFO demanded a different standard of preparation.</a:t>
            </a:r>
            <a:endParaRPr lang="en-US" sz="1150" dirty="0"/>
          </a:p>
        </p:txBody>
      </p:sp>
      <p:sp>
        <p:nvSpPr>
          <p:cNvPr id="16" name="Shape 12"/>
          <p:cNvSpPr/>
          <p:nvPr/>
        </p:nvSpPr>
        <p:spPr>
          <a:xfrm>
            <a:off x="6519672" y="2907792"/>
            <a:ext cx="4846320" cy="548640"/>
          </a:xfrm>
          <a:prstGeom prst="roundRect">
            <a:avLst>
              <a:gd name="adj" fmla="val 10000"/>
            </a:avLst>
          </a:prstGeom>
          <a:solidFill>
            <a:srgbClr val="F0EBF7"/>
          </a:solidFill>
          <a:ln w="12700">
            <a:solidFill>
              <a:srgbClr val="F0EBF7"/>
            </a:solidFill>
            <a:prstDash val="solid"/>
          </a:ln>
        </p:spPr>
      </p:sp>
      <p:sp>
        <p:nvSpPr>
          <p:cNvPr id="17" name="Text 13"/>
          <p:cNvSpPr txBox="1"/>
          <p:nvPr/>
        </p:nvSpPr>
        <p:spPr>
          <a:xfrm>
            <a:off x="6665976" y="2971800"/>
            <a:ext cx="4572000" cy="438912"/>
          </a:xfrm>
          <a:prstGeom prst="rect">
            <a:avLst/>
          </a:prstGeom>
          <a:noFill/>
          <a:ln/>
        </p:spPr>
        <p:txBody>
          <a:bodyPr wrap="square" lIns="0" tIns="0" rIns="0" bIns="0" rtlCol="0" anchor="ctr"/>
          <a:lstStyle/>
          <a:p>
            <a:pPr marL="0" indent="0">
              <a:lnSpc>
                <a:spcPts val="1300"/>
              </a:lnSpc>
              <a:buNone/>
            </a:pPr>
            <a:r>
              <a:rPr lang="en-US" sz="1100" b="1" dirty="0">
                <a:solidFill>
                  <a:srgbClr val="F26522"/>
                </a:solidFill>
                <a:latin typeface="Calibri" pitchFamily="34" charset="0"/>
                <a:ea typeface="Calibri" pitchFamily="34" charset="-122"/>
                <a:cs typeface="Calibri" pitchFamily="34" charset="-120"/>
              </a:rPr>
              <a:t>Solution  </a:t>
            </a:r>
            <a:r>
              <a:rPr lang="en-US" sz="1100" dirty="0">
                <a:solidFill>
                  <a:srgbClr val="26262E"/>
                </a:solidFill>
                <a:latin typeface="Calibri" pitchFamily="34" charset="0"/>
                <a:ea typeface="Calibri" pitchFamily="34" charset="-122"/>
                <a:cs typeface="Calibri" pitchFamily="34" charset="-120"/>
              </a:rPr>
              <a:t>Prepared thoroughly, kept communication short and data-backed, and led with the recommendation rather than the process.</a:t>
            </a:r>
            <a:endParaRPr lang="en-US" sz="1100" dirty="0"/>
          </a:p>
        </p:txBody>
      </p:sp>
      <p:sp>
        <p:nvSpPr>
          <p:cNvPr id="18" name="Shape 14"/>
          <p:cNvSpPr/>
          <p:nvPr/>
        </p:nvSpPr>
        <p:spPr>
          <a:xfrm>
            <a:off x="594360" y="3840480"/>
            <a:ext cx="5349240" cy="1965960"/>
          </a:xfrm>
          <a:prstGeom prst="roundRect">
            <a:avLst>
              <a:gd name="adj" fmla="val 4186"/>
            </a:avLst>
          </a:prstGeom>
          <a:solidFill>
            <a:srgbClr val="FFFFFF"/>
          </a:solidFill>
          <a:ln w="9525">
            <a:solidFill>
              <a:srgbClr val="E2D9EF"/>
            </a:solidFill>
            <a:prstDash val="solid"/>
          </a:ln>
        </p:spPr>
      </p:sp>
      <p:sp>
        <p:nvSpPr>
          <p:cNvPr id="19" name="Shape 15"/>
          <p:cNvSpPr/>
          <p:nvPr/>
        </p:nvSpPr>
        <p:spPr>
          <a:xfrm>
            <a:off x="850392" y="4078224"/>
            <a:ext cx="420624" cy="420624"/>
          </a:xfrm>
          <a:prstGeom prst="ellipse">
            <a:avLst/>
          </a:prstGeom>
          <a:solidFill>
            <a:srgbClr val="3B1E5F"/>
          </a:solidFill>
          <a:ln w="12700">
            <a:solidFill>
              <a:srgbClr val="3B1E5F"/>
            </a:solidFill>
            <a:prstDash val="solid"/>
          </a:ln>
        </p:spPr>
      </p:sp>
      <p:pic>
        <p:nvPicPr>
          <p:cNvPr id="20" name="Image 2" descr="preencoded.png"/>
          <p:cNvPicPr>
            <a:picLocks noChangeAspect="1"/>
          </p:cNvPicPr>
          <p:nvPr/>
        </p:nvPicPr>
        <p:blipFill>
          <a:blip r:embed="rId5"/>
          <a:stretch>
            <a:fillRect/>
          </a:stretch>
        </p:blipFill>
        <p:spPr>
          <a:xfrm>
            <a:off x="955548" y="4183380"/>
            <a:ext cx="210312" cy="210312"/>
          </a:xfrm>
          <a:prstGeom prst="rect">
            <a:avLst/>
          </a:prstGeom>
        </p:spPr>
      </p:pic>
      <p:sp>
        <p:nvSpPr>
          <p:cNvPr id="21" name="Text 16"/>
          <p:cNvSpPr txBox="1"/>
          <p:nvPr/>
        </p:nvSpPr>
        <p:spPr>
          <a:xfrm>
            <a:off x="1417320" y="4123944"/>
            <a:ext cx="42976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Fragmented employee data</a:t>
            </a:r>
            <a:endParaRPr lang="en-US" sz="1450" dirty="0"/>
          </a:p>
        </p:txBody>
      </p:sp>
      <p:sp>
        <p:nvSpPr>
          <p:cNvPr id="22" name="Text 17"/>
          <p:cNvSpPr txBox="1"/>
          <p:nvPr/>
        </p:nvSpPr>
        <p:spPr>
          <a:xfrm>
            <a:off x="850392" y="4626864"/>
            <a:ext cx="4846320" cy="457200"/>
          </a:xfrm>
          <a:prstGeom prst="rect">
            <a:avLst/>
          </a:prstGeom>
          <a:noFill/>
          <a:ln/>
        </p:spPr>
        <p:txBody>
          <a:bodyPr wrap="square" lIns="0" tIns="0" rIns="0" bIns="0" rtlCol="0" anchor="ctr"/>
          <a:lstStyle/>
          <a:p>
            <a:pPr marL="0" indent="0">
              <a:lnSpc>
                <a:spcPts val="1400"/>
              </a:lnSpc>
              <a:buNone/>
            </a:pPr>
            <a:r>
              <a:rPr lang="en-US" sz="1150" dirty="0">
                <a:solidFill>
                  <a:srgbClr val="6E6880"/>
                </a:solidFill>
                <a:latin typeface="Calibri" pitchFamily="34" charset="0"/>
                <a:ea typeface="Calibri" pitchFamily="34" charset="-122"/>
                <a:cs typeface="Calibri" pitchFamily="34" charset="-120"/>
              </a:rPr>
              <a:t>Source systems disagreed on role tagging and carried duplicates and incomplete records.</a:t>
            </a:r>
            <a:endParaRPr lang="en-US" sz="1150" dirty="0"/>
          </a:p>
        </p:txBody>
      </p:sp>
      <p:sp>
        <p:nvSpPr>
          <p:cNvPr id="23" name="Shape 18"/>
          <p:cNvSpPr/>
          <p:nvPr/>
        </p:nvSpPr>
        <p:spPr>
          <a:xfrm>
            <a:off x="850392" y="5120640"/>
            <a:ext cx="4846320" cy="548640"/>
          </a:xfrm>
          <a:prstGeom prst="roundRect">
            <a:avLst>
              <a:gd name="adj" fmla="val 10000"/>
            </a:avLst>
          </a:prstGeom>
          <a:solidFill>
            <a:srgbClr val="F0EBF7"/>
          </a:solidFill>
          <a:ln w="12700">
            <a:solidFill>
              <a:srgbClr val="F0EBF7"/>
            </a:solidFill>
            <a:prstDash val="solid"/>
          </a:ln>
        </p:spPr>
      </p:sp>
      <p:sp>
        <p:nvSpPr>
          <p:cNvPr id="24" name="Text 19"/>
          <p:cNvSpPr txBox="1"/>
          <p:nvPr/>
        </p:nvSpPr>
        <p:spPr>
          <a:xfrm>
            <a:off x="996696" y="5184648"/>
            <a:ext cx="4572000" cy="438912"/>
          </a:xfrm>
          <a:prstGeom prst="rect">
            <a:avLst/>
          </a:prstGeom>
          <a:noFill/>
          <a:ln/>
        </p:spPr>
        <p:txBody>
          <a:bodyPr wrap="square" lIns="0" tIns="0" rIns="0" bIns="0" rtlCol="0" anchor="ctr"/>
          <a:lstStyle/>
          <a:p>
            <a:pPr marL="0" indent="0">
              <a:lnSpc>
                <a:spcPts val="1300"/>
              </a:lnSpc>
              <a:buNone/>
            </a:pPr>
            <a:r>
              <a:rPr lang="en-US" sz="1100" b="1" dirty="0">
                <a:solidFill>
                  <a:srgbClr val="F26522"/>
                </a:solidFill>
                <a:latin typeface="Calibri" pitchFamily="34" charset="0"/>
                <a:ea typeface="Calibri" pitchFamily="34" charset="-122"/>
                <a:cs typeface="Calibri" pitchFamily="34" charset="-120"/>
              </a:rPr>
              <a:t>Solution  </a:t>
            </a:r>
            <a:r>
              <a:rPr lang="en-US" sz="1100" dirty="0">
                <a:solidFill>
                  <a:srgbClr val="26262E"/>
                </a:solidFill>
                <a:latin typeface="Calibri" pitchFamily="34" charset="0"/>
                <a:ea typeface="Calibri" pitchFamily="34" charset="-122"/>
                <a:cs typeface="Calibri" pitchFamily="34" charset="-120"/>
              </a:rPr>
              <a:t>Built a standardised master file in Advanced Excel and ran multiple validation cycles with function owners.</a:t>
            </a:r>
            <a:endParaRPr lang="en-US" sz="1100" dirty="0"/>
          </a:p>
        </p:txBody>
      </p:sp>
      <p:sp>
        <p:nvSpPr>
          <p:cNvPr id="25" name="Shape 20"/>
          <p:cNvSpPr/>
          <p:nvPr/>
        </p:nvSpPr>
        <p:spPr>
          <a:xfrm>
            <a:off x="6263640" y="3840480"/>
            <a:ext cx="5349240" cy="1965960"/>
          </a:xfrm>
          <a:prstGeom prst="roundRect">
            <a:avLst>
              <a:gd name="adj" fmla="val 4186"/>
            </a:avLst>
          </a:prstGeom>
          <a:solidFill>
            <a:srgbClr val="FFFFFF"/>
          </a:solidFill>
          <a:ln w="9525">
            <a:solidFill>
              <a:srgbClr val="E2D9EF"/>
            </a:solidFill>
            <a:prstDash val="solid"/>
          </a:ln>
        </p:spPr>
      </p:sp>
      <p:sp>
        <p:nvSpPr>
          <p:cNvPr id="26" name="Shape 21"/>
          <p:cNvSpPr/>
          <p:nvPr/>
        </p:nvSpPr>
        <p:spPr>
          <a:xfrm>
            <a:off x="6519672" y="4078224"/>
            <a:ext cx="420624" cy="420624"/>
          </a:xfrm>
          <a:prstGeom prst="ellipse">
            <a:avLst/>
          </a:prstGeom>
          <a:solidFill>
            <a:srgbClr val="3B1E5F"/>
          </a:solidFill>
          <a:ln w="12700">
            <a:solidFill>
              <a:srgbClr val="3B1E5F"/>
            </a:solidFill>
            <a:prstDash val="solid"/>
          </a:ln>
        </p:spPr>
      </p:sp>
      <p:pic>
        <p:nvPicPr>
          <p:cNvPr id="27" name="Image 3" descr="preencoded.png"/>
          <p:cNvPicPr>
            <a:picLocks noChangeAspect="1"/>
          </p:cNvPicPr>
          <p:nvPr/>
        </p:nvPicPr>
        <p:blipFill>
          <a:blip r:embed="rId6"/>
          <a:stretch>
            <a:fillRect/>
          </a:stretch>
        </p:blipFill>
        <p:spPr>
          <a:xfrm>
            <a:off x="6624828" y="4183380"/>
            <a:ext cx="210312" cy="210312"/>
          </a:xfrm>
          <a:prstGeom prst="rect">
            <a:avLst/>
          </a:prstGeom>
        </p:spPr>
      </p:pic>
      <p:sp>
        <p:nvSpPr>
          <p:cNvPr id="28" name="Text 22"/>
          <p:cNvSpPr txBox="1"/>
          <p:nvPr/>
        </p:nvSpPr>
        <p:spPr>
          <a:xfrm>
            <a:off x="7086600" y="4123944"/>
            <a:ext cx="42976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Sensitivity of the LEA use case</a:t>
            </a:r>
            <a:endParaRPr lang="en-US" sz="1450" dirty="0"/>
          </a:p>
        </p:txBody>
      </p:sp>
      <p:sp>
        <p:nvSpPr>
          <p:cNvPr id="29" name="Text 23"/>
          <p:cNvSpPr txBox="1"/>
          <p:nvPr/>
        </p:nvSpPr>
        <p:spPr>
          <a:xfrm>
            <a:off x="6519672" y="4626864"/>
            <a:ext cx="4846320" cy="457200"/>
          </a:xfrm>
          <a:prstGeom prst="rect">
            <a:avLst/>
          </a:prstGeom>
          <a:noFill/>
          <a:ln/>
        </p:spPr>
        <p:txBody>
          <a:bodyPr wrap="square" lIns="0" tIns="0" rIns="0" bIns="0" rtlCol="0" anchor="ctr"/>
          <a:lstStyle/>
          <a:p>
            <a:pPr marL="0" indent="0">
              <a:lnSpc>
                <a:spcPts val="1400"/>
              </a:lnSpc>
              <a:buNone/>
            </a:pPr>
            <a:r>
              <a:rPr lang="en-US" sz="1150" dirty="0">
                <a:solidFill>
                  <a:srgbClr val="6E6880"/>
                </a:solidFill>
                <a:latin typeface="Calibri" pitchFamily="34" charset="0"/>
                <a:ea typeface="Calibri" pitchFamily="34" charset="-122"/>
                <a:cs typeface="Calibri" pitchFamily="34" charset="-120"/>
              </a:rPr>
              <a:t>An incorrect automated response to a law enforcement agency carries regulatory consequence.</a:t>
            </a:r>
            <a:endParaRPr lang="en-US" sz="1150" dirty="0"/>
          </a:p>
        </p:txBody>
      </p:sp>
      <p:sp>
        <p:nvSpPr>
          <p:cNvPr id="30" name="Shape 24"/>
          <p:cNvSpPr/>
          <p:nvPr/>
        </p:nvSpPr>
        <p:spPr>
          <a:xfrm>
            <a:off x="6519672" y="5120640"/>
            <a:ext cx="4846320" cy="548640"/>
          </a:xfrm>
          <a:prstGeom prst="roundRect">
            <a:avLst>
              <a:gd name="adj" fmla="val 10000"/>
            </a:avLst>
          </a:prstGeom>
          <a:solidFill>
            <a:srgbClr val="F0EBF7"/>
          </a:solidFill>
          <a:ln w="12700">
            <a:solidFill>
              <a:srgbClr val="F0EBF7"/>
            </a:solidFill>
            <a:prstDash val="solid"/>
          </a:ln>
        </p:spPr>
      </p:sp>
      <p:sp>
        <p:nvSpPr>
          <p:cNvPr id="31" name="Text 25"/>
          <p:cNvSpPr txBox="1"/>
          <p:nvPr/>
        </p:nvSpPr>
        <p:spPr>
          <a:xfrm>
            <a:off x="6665976" y="5184648"/>
            <a:ext cx="4572000" cy="438912"/>
          </a:xfrm>
          <a:prstGeom prst="rect">
            <a:avLst/>
          </a:prstGeom>
          <a:noFill/>
          <a:ln/>
        </p:spPr>
        <p:txBody>
          <a:bodyPr wrap="square" lIns="0" tIns="0" rIns="0" bIns="0" rtlCol="0" anchor="ctr"/>
          <a:lstStyle/>
          <a:p>
            <a:pPr marL="0" indent="0">
              <a:lnSpc>
                <a:spcPts val="1300"/>
              </a:lnSpc>
              <a:buNone/>
            </a:pPr>
            <a:r>
              <a:rPr lang="en-US" sz="1100" b="1" dirty="0">
                <a:solidFill>
                  <a:srgbClr val="F26522"/>
                </a:solidFill>
                <a:latin typeface="Calibri" pitchFamily="34" charset="0"/>
                <a:ea typeface="Calibri" pitchFamily="34" charset="-122"/>
                <a:cs typeface="Calibri" pitchFamily="34" charset="-120"/>
              </a:rPr>
              <a:t>Solution  </a:t>
            </a:r>
            <a:r>
              <a:rPr lang="en-US" sz="1100" dirty="0">
                <a:solidFill>
                  <a:srgbClr val="26262E"/>
                </a:solidFill>
                <a:latin typeface="Calibri" pitchFamily="34" charset="0"/>
                <a:ea typeface="Calibri" pitchFamily="34" charset="-122"/>
                <a:cs typeface="Calibri" pitchFamily="34" charset="-120"/>
              </a:rPr>
              <a:t>Scoped the bot to draft-generation only, with mandatory human review and approval before dispatch.</a:t>
            </a:r>
            <a:endParaRPr lang="en-US" sz="1100" dirty="0"/>
          </a:p>
        </p:txBody>
      </p:sp>
      <p:sp>
        <p:nvSpPr>
          <p:cNvPr id="32" name="Text 26"/>
          <p:cNvSpPr txBox="1"/>
          <p:nvPr/>
        </p:nvSpPr>
        <p:spPr>
          <a:xfrm>
            <a:off x="594360" y="6144768"/>
            <a:ext cx="10972800" cy="502920"/>
          </a:xfrm>
          <a:prstGeom prst="rect">
            <a:avLst/>
          </a:prstGeom>
          <a:noFill/>
          <a:ln/>
        </p:spPr>
        <p:txBody>
          <a:bodyPr wrap="square" lIns="0" tIns="0" rIns="0" bIns="0" rtlCol="0" anchor="ctr"/>
          <a:lstStyle/>
          <a:p>
            <a:pPr marL="0" indent="0">
              <a:lnSpc>
                <a:spcPts val="1500"/>
              </a:lnSpc>
              <a:buNone/>
            </a:pPr>
            <a:r>
              <a:rPr lang="en-US" sz="1200" i="1" dirty="0">
                <a:solidFill>
                  <a:srgbClr val="6E6880"/>
                </a:solidFill>
                <a:latin typeface="Calibri" pitchFamily="34" charset="0"/>
                <a:ea typeface="Calibri" pitchFamily="34" charset="-122"/>
                <a:cs typeface="Calibri" pitchFamily="34" charset="-120"/>
              </a:rPr>
              <a:t>The broadest challenge was ambiguity — several questions had no readily available answer. </a:t>
            </a:r>
          </a:p>
          <a:p>
            <a:pPr marL="0" indent="0">
              <a:lnSpc>
                <a:spcPts val="1500"/>
              </a:lnSpc>
              <a:buNone/>
            </a:pPr>
            <a:r>
              <a:rPr lang="en-US" sz="1200" i="1" dirty="0">
                <a:solidFill>
                  <a:srgbClr val="6E6880"/>
                </a:solidFill>
                <a:latin typeface="Calibri" pitchFamily="34" charset="0"/>
                <a:ea typeface="Calibri" pitchFamily="34" charset="-122"/>
                <a:cs typeface="Calibri" pitchFamily="34" charset="-120"/>
              </a:rPr>
              <a:t>The lesson: structure the problem, isolate what is known, test assumptions, and move on the best available reasoning rather than waiting for certainty.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3B1E5F"/>
        </a:solidFill>
        <a:effectLst/>
      </p:bgPr>
    </p:bg>
    <p:spTree>
      <p:nvGrpSpPr>
        <p:cNvPr id="1" name=""/>
        <p:cNvGrpSpPr/>
        <p:nvPr/>
      </p:nvGrpSpPr>
      <p:grpSpPr>
        <a:xfrm>
          <a:off x="0" y="0"/>
          <a:ext cx="0" cy="0"/>
          <a:chOff x="0" y="0"/>
          <a:chExt cx="0" cy="0"/>
        </a:xfrm>
      </p:grpSpPr>
      <p:sp>
        <p:nvSpPr>
          <p:cNvPr id="2" name="Shape 0"/>
          <p:cNvSpPr/>
          <p:nvPr/>
        </p:nvSpPr>
        <p:spPr>
          <a:xfrm>
            <a:off x="-1463040" y="4206240"/>
            <a:ext cx="4572000" cy="4572000"/>
          </a:xfrm>
          <a:prstGeom prst="ellipse">
            <a:avLst/>
          </a:prstGeom>
          <a:solidFill>
            <a:srgbClr val="5B3A8C">
              <a:alpha val="40000"/>
            </a:srgbClr>
          </a:solidFill>
          <a:ln/>
        </p:spPr>
      </p:sp>
      <p:sp>
        <p:nvSpPr>
          <p:cNvPr id="3" name="Text 1"/>
          <p:cNvSpPr txBox="1"/>
          <p:nvPr/>
        </p:nvSpPr>
        <p:spPr>
          <a:xfrm>
            <a:off x="594360" y="411480"/>
            <a:ext cx="8229600" cy="566928"/>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Results and Conclusion</a:t>
            </a:r>
            <a:endParaRPr lang="en-US" sz="3400" dirty="0"/>
          </a:p>
        </p:txBody>
      </p:sp>
      <p:sp>
        <p:nvSpPr>
          <p:cNvPr id="4" name="Text 2"/>
          <p:cNvSpPr txBox="1"/>
          <p:nvPr/>
        </p:nvSpPr>
        <p:spPr>
          <a:xfrm>
            <a:off x="594360" y="987552"/>
            <a:ext cx="8229600" cy="292608"/>
          </a:xfrm>
          <a:prstGeom prst="rect">
            <a:avLst/>
          </a:prstGeom>
          <a:noFill/>
          <a:ln/>
        </p:spPr>
        <p:txBody>
          <a:bodyPr wrap="square" lIns="0" tIns="0" rIns="0" bIns="0" rtlCol="0" anchor="ctr"/>
          <a:lstStyle/>
          <a:p>
            <a:pPr marL="0" indent="0">
              <a:buNone/>
            </a:pPr>
            <a:r>
              <a:rPr lang="en-US" sz="1400" i="1" dirty="0">
                <a:solidFill>
                  <a:srgbClr val="E2D9EF"/>
                </a:solidFill>
                <a:latin typeface="Calibri" pitchFamily="34" charset="0"/>
                <a:ea typeface="Calibri" pitchFamily="34" charset="-122"/>
                <a:cs typeface="Calibri" pitchFamily="34" charset="-120"/>
              </a:rPr>
              <a:t>Key achievements, learnings and where this leads</a:t>
            </a:r>
            <a:endParaRPr lang="en-US" sz="1400" dirty="0"/>
          </a:p>
        </p:txBody>
      </p:sp>
      <p:sp>
        <p:nvSpPr>
          <p:cNvPr id="5" name="Shape 3"/>
          <p:cNvSpPr/>
          <p:nvPr/>
        </p:nvSpPr>
        <p:spPr>
          <a:xfrm>
            <a:off x="594360" y="1600200"/>
            <a:ext cx="2578608" cy="1481328"/>
          </a:xfrm>
          <a:prstGeom prst="roundRect">
            <a:avLst>
              <a:gd name="adj" fmla="val 4938"/>
            </a:avLst>
          </a:prstGeom>
          <a:solidFill>
            <a:srgbClr val="5B3A8C">
              <a:alpha val="65000"/>
            </a:srgbClr>
          </a:solidFill>
          <a:ln w="12700">
            <a:solidFill>
              <a:srgbClr val="5B3A8C"/>
            </a:solidFill>
            <a:prstDash val="solid"/>
          </a:ln>
        </p:spPr>
      </p:sp>
      <p:sp>
        <p:nvSpPr>
          <p:cNvPr id="6" name="Text 4"/>
          <p:cNvSpPr txBox="1"/>
          <p:nvPr/>
        </p:nvSpPr>
        <p:spPr>
          <a:xfrm>
            <a:off x="795528" y="1764792"/>
            <a:ext cx="2194560" cy="502920"/>
          </a:xfrm>
          <a:prstGeom prst="rect">
            <a:avLst/>
          </a:prstGeom>
          <a:noFill/>
          <a:ln/>
        </p:spPr>
        <p:txBody>
          <a:bodyPr wrap="square" lIns="0" tIns="0" rIns="0" bIns="0" rtlCol="0" anchor="ctr"/>
          <a:lstStyle/>
          <a:p>
            <a:pPr marL="0" indent="0">
              <a:buNone/>
            </a:pPr>
            <a:r>
              <a:rPr lang="en-US" sz="2900" b="1" dirty="0">
                <a:solidFill>
                  <a:srgbClr val="F26522"/>
                </a:solidFill>
                <a:latin typeface="Cambria" pitchFamily="34" charset="0"/>
                <a:ea typeface="Cambria" pitchFamily="34" charset="-122"/>
                <a:cs typeface="Cambria" pitchFamily="34" charset="-120"/>
              </a:rPr>
              <a:t>2,000+</a:t>
            </a:r>
            <a:endParaRPr lang="en-US" sz="2900" dirty="0"/>
          </a:p>
        </p:txBody>
      </p:sp>
      <p:sp>
        <p:nvSpPr>
          <p:cNvPr id="7" name="Text 5"/>
          <p:cNvSpPr txBox="1"/>
          <p:nvPr/>
        </p:nvSpPr>
        <p:spPr>
          <a:xfrm>
            <a:off x="795528" y="2304288"/>
            <a:ext cx="2194560" cy="640080"/>
          </a:xfrm>
          <a:prstGeom prst="rect">
            <a:avLst/>
          </a:prstGeom>
          <a:noFill/>
          <a:ln/>
        </p:spPr>
        <p:txBody>
          <a:bodyPr wrap="square" lIns="0" tIns="0" rIns="0" bIns="0" rtlCol="0" anchor="ctr"/>
          <a:lstStyle/>
          <a:p>
            <a:pPr marL="0" indent="0">
              <a:lnSpc>
                <a:spcPts val="1400"/>
              </a:lnSpc>
              <a:buNone/>
            </a:pPr>
            <a:r>
              <a:rPr lang="en-US" sz="1150" dirty="0">
                <a:solidFill>
                  <a:srgbClr val="E2D9EF"/>
                </a:solidFill>
                <a:latin typeface="Calibri" pitchFamily="34" charset="0"/>
                <a:ea typeface="Calibri" pitchFamily="34" charset="-122"/>
                <a:cs typeface="Calibri" pitchFamily="34" charset="-120"/>
              </a:rPr>
              <a:t>employees enabled for</a:t>
            </a:r>
            <a:endParaRPr lang="en-US" sz="1150" dirty="0"/>
          </a:p>
          <a:p>
            <a:pPr marL="0" indent="0">
              <a:lnSpc>
                <a:spcPts val="1400"/>
              </a:lnSpc>
              <a:buNone/>
            </a:pPr>
            <a:r>
              <a:rPr lang="en-US" sz="1150" dirty="0">
                <a:solidFill>
                  <a:srgbClr val="E2D9EF"/>
                </a:solidFill>
                <a:latin typeface="Calibri" pitchFamily="34" charset="0"/>
                <a:ea typeface="Calibri" pitchFamily="34" charset="-122"/>
                <a:cs typeface="Calibri" pitchFamily="34" charset="-120"/>
              </a:rPr>
              <a:t>WFH/Hybrid working</a:t>
            </a:r>
            <a:endParaRPr lang="en-US" sz="1150" dirty="0"/>
          </a:p>
        </p:txBody>
      </p:sp>
      <p:sp>
        <p:nvSpPr>
          <p:cNvPr id="8" name="Shape 6"/>
          <p:cNvSpPr/>
          <p:nvPr/>
        </p:nvSpPr>
        <p:spPr>
          <a:xfrm>
            <a:off x="3392424" y="1600200"/>
            <a:ext cx="2578608" cy="1481328"/>
          </a:xfrm>
          <a:prstGeom prst="roundRect">
            <a:avLst>
              <a:gd name="adj" fmla="val 4938"/>
            </a:avLst>
          </a:prstGeom>
          <a:solidFill>
            <a:srgbClr val="5B3A8C">
              <a:alpha val="65000"/>
            </a:srgbClr>
          </a:solidFill>
          <a:ln w="12700">
            <a:solidFill>
              <a:srgbClr val="5B3A8C"/>
            </a:solidFill>
            <a:prstDash val="solid"/>
          </a:ln>
        </p:spPr>
      </p:sp>
      <p:sp>
        <p:nvSpPr>
          <p:cNvPr id="9" name="Text 7"/>
          <p:cNvSpPr txBox="1"/>
          <p:nvPr/>
        </p:nvSpPr>
        <p:spPr>
          <a:xfrm>
            <a:off x="3593592" y="1764792"/>
            <a:ext cx="2194560" cy="502920"/>
          </a:xfrm>
          <a:prstGeom prst="rect">
            <a:avLst/>
          </a:prstGeom>
          <a:noFill/>
          <a:ln/>
        </p:spPr>
        <p:txBody>
          <a:bodyPr wrap="square" lIns="0" tIns="0" rIns="0" bIns="0" rtlCol="0" anchor="ctr"/>
          <a:lstStyle/>
          <a:p>
            <a:pPr marL="0" indent="0">
              <a:buNone/>
            </a:pPr>
            <a:r>
              <a:rPr lang="en-US" sz="2900" b="1" dirty="0">
                <a:solidFill>
                  <a:srgbClr val="F26522"/>
                </a:solidFill>
                <a:latin typeface="Cambria" pitchFamily="34" charset="0"/>
                <a:ea typeface="Cambria" pitchFamily="34" charset="-122"/>
                <a:cs typeface="Cambria" pitchFamily="34" charset="-120"/>
              </a:rPr>
              <a:t>1,000+</a:t>
            </a:r>
            <a:endParaRPr lang="en-US" sz="2900" dirty="0"/>
          </a:p>
        </p:txBody>
      </p:sp>
      <p:sp>
        <p:nvSpPr>
          <p:cNvPr id="10" name="Text 8"/>
          <p:cNvSpPr txBox="1"/>
          <p:nvPr/>
        </p:nvSpPr>
        <p:spPr>
          <a:xfrm>
            <a:off x="3593592" y="2304288"/>
            <a:ext cx="2194560" cy="640080"/>
          </a:xfrm>
          <a:prstGeom prst="rect">
            <a:avLst/>
          </a:prstGeom>
          <a:noFill/>
          <a:ln/>
        </p:spPr>
        <p:txBody>
          <a:bodyPr wrap="square" lIns="0" tIns="0" rIns="0" bIns="0" rtlCol="0" anchor="ctr"/>
          <a:lstStyle/>
          <a:p>
            <a:pPr marL="0" indent="0">
              <a:lnSpc>
                <a:spcPts val="1400"/>
              </a:lnSpc>
              <a:buNone/>
            </a:pPr>
            <a:r>
              <a:rPr lang="en-US" sz="1150" dirty="0">
                <a:solidFill>
                  <a:srgbClr val="E2D9EF"/>
                </a:solidFill>
                <a:latin typeface="Calibri" pitchFamily="34" charset="0"/>
                <a:ea typeface="Calibri" pitchFamily="34" charset="-122"/>
                <a:cs typeface="Calibri" pitchFamily="34" charset="-120"/>
              </a:rPr>
              <a:t>documents added to the</a:t>
            </a:r>
            <a:endParaRPr lang="en-US" sz="1150" dirty="0"/>
          </a:p>
          <a:p>
            <a:pPr marL="0" indent="0">
              <a:lnSpc>
                <a:spcPts val="1400"/>
              </a:lnSpc>
              <a:buNone/>
            </a:pPr>
            <a:r>
              <a:rPr lang="en-US" sz="1150" dirty="0">
                <a:solidFill>
                  <a:srgbClr val="E2D9EF"/>
                </a:solidFill>
                <a:latin typeface="Calibri" pitchFamily="34" charset="0"/>
                <a:ea typeface="Calibri" pitchFamily="34" charset="-122"/>
                <a:cs typeface="Calibri" pitchFamily="34" charset="-120"/>
              </a:rPr>
              <a:t>RAG knowledge base</a:t>
            </a:r>
            <a:endParaRPr lang="en-US" sz="1150" dirty="0"/>
          </a:p>
        </p:txBody>
      </p:sp>
      <p:sp>
        <p:nvSpPr>
          <p:cNvPr id="11" name="Shape 9"/>
          <p:cNvSpPr/>
          <p:nvPr/>
        </p:nvSpPr>
        <p:spPr>
          <a:xfrm>
            <a:off x="6190488" y="1600200"/>
            <a:ext cx="2578608" cy="1481328"/>
          </a:xfrm>
          <a:prstGeom prst="roundRect">
            <a:avLst>
              <a:gd name="adj" fmla="val 4938"/>
            </a:avLst>
          </a:prstGeom>
          <a:solidFill>
            <a:srgbClr val="5B3A8C">
              <a:alpha val="65000"/>
            </a:srgbClr>
          </a:solidFill>
          <a:ln w="12700">
            <a:solidFill>
              <a:srgbClr val="5B3A8C"/>
            </a:solidFill>
            <a:prstDash val="solid"/>
          </a:ln>
        </p:spPr>
      </p:sp>
      <p:sp>
        <p:nvSpPr>
          <p:cNvPr id="12" name="Text 10"/>
          <p:cNvSpPr txBox="1"/>
          <p:nvPr/>
        </p:nvSpPr>
        <p:spPr>
          <a:xfrm>
            <a:off x="6391656" y="1764792"/>
            <a:ext cx="2194560" cy="502920"/>
          </a:xfrm>
          <a:prstGeom prst="rect">
            <a:avLst/>
          </a:prstGeom>
          <a:noFill/>
          <a:ln/>
        </p:spPr>
        <p:txBody>
          <a:bodyPr wrap="square" lIns="0" tIns="0" rIns="0" bIns="0" rtlCol="0" anchor="ctr"/>
          <a:lstStyle/>
          <a:p>
            <a:pPr marL="0" indent="0">
              <a:buNone/>
            </a:pPr>
            <a:r>
              <a:rPr lang="en-US" sz="2900" b="1" dirty="0">
                <a:solidFill>
                  <a:srgbClr val="F26522"/>
                </a:solidFill>
                <a:latin typeface="Cambria" pitchFamily="34" charset="0"/>
                <a:ea typeface="Cambria" pitchFamily="34" charset="-122"/>
                <a:cs typeface="Cambria" pitchFamily="34" charset="-120"/>
              </a:rPr>
              <a:t>75 lakh</a:t>
            </a:r>
            <a:endParaRPr lang="en-US" sz="2900" dirty="0"/>
          </a:p>
        </p:txBody>
      </p:sp>
      <p:sp>
        <p:nvSpPr>
          <p:cNvPr id="13" name="Text 11"/>
          <p:cNvSpPr txBox="1"/>
          <p:nvPr/>
        </p:nvSpPr>
        <p:spPr>
          <a:xfrm>
            <a:off x="6391656" y="2304288"/>
            <a:ext cx="2194560" cy="640080"/>
          </a:xfrm>
          <a:prstGeom prst="rect">
            <a:avLst/>
          </a:prstGeom>
          <a:noFill/>
          <a:ln/>
        </p:spPr>
        <p:txBody>
          <a:bodyPr wrap="square" lIns="0" tIns="0" rIns="0" bIns="0" rtlCol="0" anchor="ctr"/>
          <a:lstStyle/>
          <a:p>
            <a:pPr marL="0" indent="0">
              <a:lnSpc>
                <a:spcPts val="1400"/>
              </a:lnSpc>
              <a:buNone/>
            </a:pPr>
            <a:r>
              <a:rPr lang="en-US" sz="1150" dirty="0">
                <a:solidFill>
                  <a:srgbClr val="E2D9EF"/>
                </a:solidFill>
                <a:latin typeface="Calibri" pitchFamily="34" charset="0"/>
                <a:ea typeface="Calibri" pitchFamily="34" charset="-122"/>
                <a:cs typeface="Calibri" pitchFamily="34" charset="-120"/>
              </a:rPr>
              <a:t>annual QRCs sized for</a:t>
            </a:r>
            <a:endParaRPr lang="en-US" sz="1150" dirty="0"/>
          </a:p>
          <a:p>
            <a:pPr marL="0" indent="0">
              <a:lnSpc>
                <a:spcPts val="1400"/>
              </a:lnSpc>
              <a:buNone/>
            </a:pPr>
            <a:r>
              <a:rPr lang="en-US" sz="1150" dirty="0">
                <a:solidFill>
                  <a:srgbClr val="E2D9EF"/>
                </a:solidFill>
                <a:latin typeface="Calibri" pitchFamily="34" charset="0"/>
                <a:ea typeface="Calibri" pitchFamily="34" charset="-122"/>
                <a:cs typeface="Calibri" pitchFamily="34" charset="-120"/>
              </a:rPr>
              <a:t>AI-led automation</a:t>
            </a:r>
            <a:endParaRPr lang="en-US" sz="1150" dirty="0"/>
          </a:p>
        </p:txBody>
      </p:sp>
      <p:sp>
        <p:nvSpPr>
          <p:cNvPr id="14" name="Shape 12"/>
          <p:cNvSpPr/>
          <p:nvPr/>
        </p:nvSpPr>
        <p:spPr>
          <a:xfrm>
            <a:off x="8988552" y="1600200"/>
            <a:ext cx="2578608" cy="1481328"/>
          </a:xfrm>
          <a:prstGeom prst="roundRect">
            <a:avLst>
              <a:gd name="adj" fmla="val 4938"/>
            </a:avLst>
          </a:prstGeom>
          <a:solidFill>
            <a:srgbClr val="5B3A8C">
              <a:alpha val="65000"/>
            </a:srgbClr>
          </a:solidFill>
          <a:ln w="12700">
            <a:solidFill>
              <a:srgbClr val="5B3A8C"/>
            </a:solidFill>
            <a:prstDash val="solid"/>
          </a:ln>
        </p:spPr>
      </p:sp>
      <p:sp>
        <p:nvSpPr>
          <p:cNvPr id="15" name="Text 13"/>
          <p:cNvSpPr txBox="1"/>
          <p:nvPr/>
        </p:nvSpPr>
        <p:spPr>
          <a:xfrm>
            <a:off x="9189720" y="1764792"/>
            <a:ext cx="2194560" cy="502920"/>
          </a:xfrm>
          <a:prstGeom prst="rect">
            <a:avLst/>
          </a:prstGeom>
          <a:noFill/>
          <a:ln/>
        </p:spPr>
        <p:txBody>
          <a:bodyPr wrap="square" lIns="0" tIns="0" rIns="0" bIns="0" rtlCol="0" anchor="ctr"/>
          <a:lstStyle/>
          <a:p>
            <a:pPr marL="0" indent="0">
              <a:buNone/>
            </a:pPr>
            <a:r>
              <a:rPr lang="en-US" sz="2900" b="1" dirty="0">
                <a:solidFill>
                  <a:srgbClr val="F26522"/>
                </a:solidFill>
                <a:latin typeface="Cambria" pitchFamily="34" charset="0"/>
                <a:ea typeface="Cambria" pitchFamily="34" charset="-122"/>
                <a:cs typeface="Cambria" pitchFamily="34" charset="-120"/>
              </a:rPr>
              <a:t>10+</a:t>
            </a:r>
            <a:endParaRPr lang="en-US" sz="2900" dirty="0"/>
          </a:p>
        </p:txBody>
      </p:sp>
      <p:sp>
        <p:nvSpPr>
          <p:cNvPr id="16" name="Text 14"/>
          <p:cNvSpPr txBox="1"/>
          <p:nvPr/>
        </p:nvSpPr>
        <p:spPr>
          <a:xfrm>
            <a:off x="9189720" y="2304288"/>
            <a:ext cx="2194560" cy="640080"/>
          </a:xfrm>
          <a:prstGeom prst="rect">
            <a:avLst/>
          </a:prstGeom>
          <a:noFill/>
          <a:ln/>
        </p:spPr>
        <p:txBody>
          <a:bodyPr wrap="square" lIns="0" tIns="0" rIns="0" bIns="0" rtlCol="0" anchor="ctr"/>
          <a:lstStyle/>
          <a:p>
            <a:pPr marL="0" indent="0">
              <a:lnSpc>
                <a:spcPts val="1400"/>
              </a:lnSpc>
              <a:buNone/>
            </a:pPr>
            <a:r>
              <a:rPr lang="en-US" sz="1150" dirty="0">
                <a:solidFill>
                  <a:srgbClr val="E2D9EF"/>
                </a:solidFill>
                <a:latin typeface="Calibri" pitchFamily="34" charset="0"/>
                <a:ea typeface="Calibri" pitchFamily="34" charset="-122"/>
                <a:cs typeface="Calibri" pitchFamily="34" charset="-120"/>
              </a:rPr>
              <a:t>vendors evaluated to</a:t>
            </a:r>
            <a:endParaRPr lang="en-US" sz="1150" dirty="0"/>
          </a:p>
          <a:p>
            <a:pPr marL="0" indent="0">
              <a:lnSpc>
                <a:spcPts val="1400"/>
              </a:lnSpc>
              <a:buNone/>
            </a:pPr>
            <a:r>
              <a:rPr lang="en-US" sz="1150" dirty="0">
                <a:solidFill>
                  <a:srgbClr val="E2D9EF"/>
                </a:solidFill>
                <a:latin typeface="Calibri" pitchFamily="34" charset="0"/>
                <a:ea typeface="Calibri" pitchFamily="34" charset="-122"/>
                <a:cs typeface="Calibri" pitchFamily="34" charset="-120"/>
              </a:rPr>
              <a:t>finalise we360.ai</a:t>
            </a:r>
            <a:endParaRPr lang="en-US" sz="1150" dirty="0"/>
          </a:p>
        </p:txBody>
      </p:sp>
      <p:sp>
        <p:nvSpPr>
          <p:cNvPr id="17" name="Text 15"/>
          <p:cNvSpPr txBox="1"/>
          <p:nvPr/>
        </p:nvSpPr>
        <p:spPr>
          <a:xfrm>
            <a:off x="594360" y="3401568"/>
            <a:ext cx="5120640" cy="274320"/>
          </a:xfrm>
          <a:prstGeom prst="rect">
            <a:avLst/>
          </a:prstGeom>
          <a:noFill/>
          <a:ln/>
        </p:spPr>
        <p:txBody>
          <a:bodyPr wrap="square" lIns="0" tIns="0" rIns="0" bIns="0" rtlCol="0" anchor="ctr"/>
          <a:lstStyle/>
          <a:p>
            <a:pPr marL="0" indent="0">
              <a:buNone/>
            </a:pPr>
            <a:r>
              <a:rPr lang="en-US" sz="1500" b="1" dirty="0">
                <a:solidFill>
                  <a:srgbClr val="F26522"/>
                </a:solidFill>
                <a:latin typeface="Calibri" pitchFamily="34" charset="0"/>
                <a:ea typeface="Calibri" pitchFamily="34" charset="-122"/>
                <a:cs typeface="Calibri" pitchFamily="34" charset="-120"/>
              </a:rPr>
              <a:t>Also delivered</a:t>
            </a:r>
            <a:endParaRPr lang="en-US" sz="1500" dirty="0"/>
          </a:p>
        </p:txBody>
      </p:sp>
      <p:sp>
        <p:nvSpPr>
          <p:cNvPr id="18" name="Text 16"/>
          <p:cNvSpPr txBox="1"/>
          <p:nvPr/>
        </p:nvSpPr>
        <p:spPr>
          <a:xfrm>
            <a:off x="594360" y="3730752"/>
            <a:ext cx="5212080" cy="18288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Contributed to the Bank's published Integrated Annual Report — suggested changes accepted into the AI chapter</a:t>
            </a:r>
            <a:endParaRPr lang="en-US" sz="1200" dirty="0"/>
          </a:p>
          <a:p>
            <a:pPr marL="342900" indent="-342900">
              <a:lnSpc>
                <a:spcPts val="1500"/>
              </a:lnSpc>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Designed the CBS-layered servicing bot concept with ETB/NTB authentication flows</a:t>
            </a:r>
            <a:endParaRPr lang="en-US" sz="1200" dirty="0"/>
          </a:p>
          <a:p>
            <a:pPr marL="342900" indent="-342900">
              <a:lnSpc>
                <a:spcPts val="1500"/>
              </a:lnSpc>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Contributed to the LEA Bot, replacing manual mail triage with an analyse–retrieve–draft workflow</a:t>
            </a:r>
            <a:endParaRPr lang="en-US" sz="1200" dirty="0"/>
          </a:p>
          <a:p>
            <a:pPr marL="342900" indent="-342900">
              <a:lnSpc>
                <a:spcPts val="1500"/>
              </a:lnSpc>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Initiated a structured appraisal framework to replace the subjective 1–5 rating</a:t>
            </a:r>
            <a:endParaRPr lang="en-US" sz="1200" dirty="0"/>
          </a:p>
        </p:txBody>
      </p:sp>
      <p:sp>
        <p:nvSpPr>
          <p:cNvPr id="19" name="Text 17"/>
          <p:cNvSpPr txBox="1"/>
          <p:nvPr/>
        </p:nvSpPr>
        <p:spPr>
          <a:xfrm>
            <a:off x="6355080" y="3401568"/>
            <a:ext cx="5212080" cy="274320"/>
          </a:xfrm>
          <a:prstGeom prst="rect">
            <a:avLst/>
          </a:prstGeom>
          <a:noFill/>
          <a:ln/>
        </p:spPr>
        <p:txBody>
          <a:bodyPr wrap="square" lIns="0" tIns="0" rIns="0" bIns="0" rtlCol="0" anchor="ctr"/>
          <a:lstStyle/>
          <a:p>
            <a:pPr marL="0" indent="0">
              <a:buNone/>
            </a:pPr>
            <a:r>
              <a:rPr lang="en-US" sz="1500" b="1" dirty="0">
                <a:solidFill>
                  <a:srgbClr val="F26522"/>
                </a:solidFill>
                <a:latin typeface="Calibri" pitchFamily="34" charset="0"/>
                <a:ea typeface="Calibri" pitchFamily="34" charset="-122"/>
                <a:cs typeface="Calibri" pitchFamily="34" charset="-120"/>
              </a:rPr>
              <a:t>What I take away</a:t>
            </a:r>
            <a:endParaRPr lang="en-US" sz="1500" dirty="0"/>
          </a:p>
        </p:txBody>
      </p:sp>
      <p:sp>
        <p:nvSpPr>
          <p:cNvPr id="20" name="Shape 18"/>
          <p:cNvSpPr/>
          <p:nvPr/>
        </p:nvSpPr>
        <p:spPr>
          <a:xfrm>
            <a:off x="6355080" y="3767328"/>
            <a:ext cx="347472" cy="347472"/>
          </a:xfrm>
          <a:prstGeom prst="ellipse">
            <a:avLst/>
          </a:prstGeom>
          <a:solidFill>
            <a:srgbClr val="F26522"/>
          </a:solidFill>
          <a:ln w="12700">
            <a:solidFill>
              <a:srgbClr val="F26522"/>
            </a:solidFill>
            <a:prstDash val="solid"/>
          </a:ln>
        </p:spPr>
      </p:sp>
      <p:pic>
        <p:nvPicPr>
          <p:cNvPr id="21" name="Image 0" descr="preencoded.png"/>
          <p:cNvPicPr>
            <a:picLocks noChangeAspect="1"/>
          </p:cNvPicPr>
          <p:nvPr/>
        </p:nvPicPr>
        <p:blipFill>
          <a:blip r:embed="rId3"/>
          <a:stretch>
            <a:fillRect/>
          </a:stretch>
        </p:blipFill>
        <p:spPr>
          <a:xfrm>
            <a:off x="6441948" y="3854196"/>
            <a:ext cx="173736" cy="173736"/>
          </a:xfrm>
          <a:prstGeom prst="rect">
            <a:avLst/>
          </a:prstGeom>
        </p:spPr>
      </p:pic>
      <p:sp>
        <p:nvSpPr>
          <p:cNvPr id="22" name="Text 19"/>
          <p:cNvSpPr txBox="1"/>
          <p:nvPr/>
        </p:nvSpPr>
        <p:spPr>
          <a:xfrm>
            <a:off x="6839712" y="3776472"/>
            <a:ext cx="4709160" cy="384048"/>
          </a:xfrm>
          <a:prstGeom prst="rect">
            <a:avLst/>
          </a:prstGeom>
          <a:noFill/>
          <a:ln/>
        </p:spPr>
        <p:txBody>
          <a:bodyPr wrap="square" lIns="0" tIns="0" rIns="0" bIns="0" rtlCol="0" anchor="ctr"/>
          <a:lstStyle/>
          <a:p>
            <a:pPr marL="0" indent="0">
              <a:lnSpc>
                <a:spcPts val="1400"/>
              </a:lnSpc>
              <a:buNone/>
            </a:pPr>
            <a:r>
              <a:rPr lang="en-US" sz="1200" dirty="0">
                <a:solidFill>
                  <a:srgbClr val="FFFFFF"/>
                </a:solidFill>
                <a:latin typeface="Calibri" pitchFamily="34" charset="0"/>
                <a:ea typeface="Calibri" pitchFamily="34" charset="-122"/>
                <a:cs typeface="Calibri" pitchFamily="34" charset="-120"/>
              </a:rPr>
              <a:t>Problem framing precedes problem solving</a:t>
            </a:r>
            <a:endParaRPr lang="en-US" sz="1200" dirty="0"/>
          </a:p>
        </p:txBody>
      </p:sp>
      <p:sp>
        <p:nvSpPr>
          <p:cNvPr id="23" name="Shape 20"/>
          <p:cNvSpPr/>
          <p:nvPr/>
        </p:nvSpPr>
        <p:spPr>
          <a:xfrm>
            <a:off x="6355080" y="4334256"/>
            <a:ext cx="347472" cy="347472"/>
          </a:xfrm>
          <a:prstGeom prst="ellipse">
            <a:avLst/>
          </a:prstGeom>
          <a:solidFill>
            <a:srgbClr val="F26522"/>
          </a:solidFill>
          <a:ln w="12700">
            <a:solidFill>
              <a:srgbClr val="F26522"/>
            </a:solidFill>
            <a:prstDash val="solid"/>
          </a:ln>
        </p:spPr>
      </p:sp>
      <p:pic>
        <p:nvPicPr>
          <p:cNvPr id="24" name="Image 1" descr="preencoded.png"/>
          <p:cNvPicPr>
            <a:picLocks noChangeAspect="1"/>
          </p:cNvPicPr>
          <p:nvPr/>
        </p:nvPicPr>
        <p:blipFill>
          <a:blip r:embed="rId4"/>
          <a:stretch>
            <a:fillRect/>
          </a:stretch>
        </p:blipFill>
        <p:spPr>
          <a:xfrm>
            <a:off x="6441948" y="4421124"/>
            <a:ext cx="173736" cy="173736"/>
          </a:xfrm>
          <a:prstGeom prst="rect">
            <a:avLst/>
          </a:prstGeom>
        </p:spPr>
      </p:pic>
      <p:sp>
        <p:nvSpPr>
          <p:cNvPr id="25" name="Text 21"/>
          <p:cNvSpPr txBox="1"/>
          <p:nvPr/>
        </p:nvSpPr>
        <p:spPr>
          <a:xfrm>
            <a:off x="6839712" y="4343400"/>
            <a:ext cx="4709160" cy="384048"/>
          </a:xfrm>
          <a:prstGeom prst="rect">
            <a:avLst/>
          </a:prstGeom>
          <a:noFill/>
          <a:ln/>
        </p:spPr>
        <p:txBody>
          <a:bodyPr wrap="square" lIns="0" tIns="0" rIns="0" bIns="0" rtlCol="0" anchor="ctr"/>
          <a:lstStyle/>
          <a:p>
            <a:pPr marL="0" indent="0">
              <a:lnSpc>
                <a:spcPts val="1400"/>
              </a:lnSpc>
              <a:buNone/>
            </a:pPr>
            <a:r>
              <a:rPr lang="en-US" sz="1200" dirty="0">
                <a:solidFill>
                  <a:srgbClr val="FFFFFF"/>
                </a:solidFill>
                <a:latin typeface="Calibri" pitchFamily="34" charset="0"/>
                <a:ea typeface="Calibri" pitchFamily="34" charset="-122"/>
                <a:cs typeface="Calibri" pitchFamily="34" charset="-120"/>
              </a:rPr>
              <a:t>Volume is the strongest argument for automation</a:t>
            </a:r>
            <a:endParaRPr lang="en-US" sz="1200" dirty="0"/>
          </a:p>
        </p:txBody>
      </p:sp>
      <p:sp>
        <p:nvSpPr>
          <p:cNvPr id="26" name="Shape 22"/>
          <p:cNvSpPr/>
          <p:nvPr/>
        </p:nvSpPr>
        <p:spPr>
          <a:xfrm>
            <a:off x="6355080" y="4901184"/>
            <a:ext cx="347472" cy="347472"/>
          </a:xfrm>
          <a:prstGeom prst="ellipse">
            <a:avLst/>
          </a:prstGeom>
          <a:solidFill>
            <a:srgbClr val="F26522"/>
          </a:solidFill>
          <a:ln w="12700">
            <a:solidFill>
              <a:srgbClr val="F26522"/>
            </a:solidFill>
            <a:prstDash val="solid"/>
          </a:ln>
        </p:spPr>
      </p:sp>
      <p:pic>
        <p:nvPicPr>
          <p:cNvPr id="27" name="Image 2" descr="preencoded.png"/>
          <p:cNvPicPr>
            <a:picLocks noChangeAspect="1"/>
          </p:cNvPicPr>
          <p:nvPr/>
        </p:nvPicPr>
        <p:blipFill>
          <a:blip r:embed="rId5"/>
          <a:stretch>
            <a:fillRect/>
          </a:stretch>
        </p:blipFill>
        <p:spPr>
          <a:xfrm>
            <a:off x="6441948" y="4988052"/>
            <a:ext cx="173736" cy="173736"/>
          </a:xfrm>
          <a:prstGeom prst="rect">
            <a:avLst/>
          </a:prstGeom>
        </p:spPr>
      </p:pic>
      <p:sp>
        <p:nvSpPr>
          <p:cNvPr id="28" name="Text 23"/>
          <p:cNvSpPr txBox="1"/>
          <p:nvPr/>
        </p:nvSpPr>
        <p:spPr>
          <a:xfrm>
            <a:off x="6839712" y="4910328"/>
            <a:ext cx="4709160" cy="384048"/>
          </a:xfrm>
          <a:prstGeom prst="rect">
            <a:avLst/>
          </a:prstGeom>
          <a:noFill/>
          <a:ln/>
        </p:spPr>
        <p:txBody>
          <a:bodyPr wrap="square" lIns="0" tIns="0" rIns="0" bIns="0" rtlCol="0" anchor="ctr"/>
          <a:lstStyle/>
          <a:p>
            <a:pPr marL="0" indent="0">
              <a:lnSpc>
                <a:spcPts val="1400"/>
              </a:lnSpc>
              <a:buNone/>
            </a:pPr>
            <a:r>
              <a:rPr lang="en-US" sz="1200" dirty="0">
                <a:solidFill>
                  <a:srgbClr val="FFFFFF"/>
                </a:solidFill>
                <a:latin typeface="Calibri" pitchFamily="34" charset="0"/>
                <a:ea typeface="Calibri" pitchFamily="34" charset="-122"/>
                <a:cs typeface="Calibri" pitchFamily="34" charset="-120"/>
              </a:rPr>
              <a:t>AI in banking is a governance question as much as a technology one</a:t>
            </a:r>
            <a:endParaRPr lang="en-US" sz="1200" dirty="0"/>
          </a:p>
        </p:txBody>
      </p:sp>
      <p:sp>
        <p:nvSpPr>
          <p:cNvPr id="29" name="Shape 24"/>
          <p:cNvSpPr/>
          <p:nvPr/>
        </p:nvSpPr>
        <p:spPr>
          <a:xfrm>
            <a:off x="6355080" y="5468112"/>
            <a:ext cx="347472" cy="347472"/>
          </a:xfrm>
          <a:prstGeom prst="ellipse">
            <a:avLst/>
          </a:prstGeom>
          <a:solidFill>
            <a:srgbClr val="F26522"/>
          </a:solidFill>
          <a:ln w="12700">
            <a:solidFill>
              <a:srgbClr val="F26522"/>
            </a:solidFill>
            <a:prstDash val="solid"/>
          </a:ln>
        </p:spPr>
      </p:sp>
      <p:pic>
        <p:nvPicPr>
          <p:cNvPr id="30" name="Image 3" descr="preencoded.png"/>
          <p:cNvPicPr>
            <a:picLocks noChangeAspect="1"/>
          </p:cNvPicPr>
          <p:nvPr/>
        </p:nvPicPr>
        <p:blipFill>
          <a:blip r:embed="rId6"/>
          <a:stretch>
            <a:fillRect/>
          </a:stretch>
        </p:blipFill>
        <p:spPr>
          <a:xfrm>
            <a:off x="6441948" y="5554980"/>
            <a:ext cx="173736" cy="173736"/>
          </a:xfrm>
          <a:prstGeom prst="rect">
            <a:avLst/>
          </a:prstGeom>
        </p:spPr>
      </p:pic>
      <p:sp>
        <p:nvSpPr>
          <p:cNvPr id="31" name="Text 25"/>
          <p:cNvSpPr txBox="1"/>
          <p:nvPr/>
        </p:nvSpPr>
        <p:spPr>
          <a:xfrm>
            <a:off x="6839712" y="5477256"/>
            <a:ext cx="4709160" cy="384048"/>
          </a:xfrm>
          <a:prstGeom prst="rect">
            <a:avLst/>
          </a:prstGeom>
          <a:noFill/>
          <a:ln/>
        </p:spPr>
        <p:txBody>
          <a:bodyPr wrap="square" lIns="0" tIns="0" rIns="0" bIns="0" rtlCol="0" anchor="ctr"/>
          <a:lstStyle/>
          <a:p>
            <a:pPr marL="0" indent="0">
              <a:lnSpc>
                <a:spcPts val="1400"/>
              </a:lnSpc>
              <a:buNone/>
            </a:pPr>
            <a:r>
              <a:rPr lang="en-US" sz="1200" dirty="0">
                <a:solidFill>
                  <a:srgbClr val="FFFFFF"/>
                </a:solidFill>
                <a:latin typeface="Calibri" pitchFamily="34" charset="0"/>
                <a:ea typeface="Calibri" pitchFamily="34" charset="-122"/>
                <a:cs typeface="Calibri" pitchFamily="34" charset="-120"/>
              </a:rPr>
              <a:t>Comfort with ambiguity, ownership and senior-level communication</a:t>
            </a:r>
            <a:endParaRPr lang="en-US" sz="1200" dirty="0"/>
          </a:p>
        </p:txBody>
      </p:sp>
      <p:sp>
        <p:nvSpPr>
          <p:cNvPr id="32" name="Shape 26"/>
          <p:cNvSpPr/>
          <p:nvPr/>
        </p:nvSpPr>
        <p:spPr>
          <a:xfrm>
            <a:off x="594360" y="6035040"/>
            <a:ext cx="10972800" cy="18288"/>
          </a:xfrm>
          <a:prstGeom prst="rect">
            <a:avLst/>
          </a:prstGeom>
          <a:solidFill>
            <a:srgbClr val="5B3A8C"/>
          </a:solidFill>
          <a:ln w="12700">
            <a:solidFill>
              <a:srgbClr val="5B3A8C"/>
            </a:solidFill>
            <a:prstDash val="solid"/>
          </a:ln>
        </p:spPr>
      </p:sp>
      <p:sp>
        <p:nvSpPr>
          <p:cNvPr id="33" name="Text 27"/>
          <p:cNvSpPr txBox="1"/>
          <p:nvPr/>
        </p:nvSpPr>
        <p:spPr>
          <a:xfrm>
            <a:off x="594360" y="6172200"/>
            <a:ext cx="10972800" cy="457200"/>
          </a:xfrm>
          <a:prstGeom prst="rect">
            <a:avLst/>
          </a:prstGeom>
          <a:noFill/>
          <a:ln/>
        </p:spPr>
        <p:txBody>
          <a:bodyPr wrap="square" lIns="0" tIns="0" rIns="0" bIns="0" rtlCol="0" anchor="ctr"/>
          <a:lstStyle/>
          <a:p>
            <a:pPr marL="0" indent="0">
              <a:lnSpc>
                <a:spcPts val="1500"/>
              </a:lnSpc>
              <a:buNone/>
            </a:pPr>
            <a:r>
              <a:rPr lang="en-US" sz="1250" i="1" dirty="0">
                <a:solidFill>
                  <a:srgbClr val="E2D9EF"/>
                </a:solidFill>
                <a:latin typeface="Calibri" pitchFamily="34" charset="0"/>
                <a:ea typeface="Calibri" pitchFamily="34" charset="-122"/>
                <a:cs typeface="Calibri" pitchFamily="34" charset="-120"/>
              </a:rPr>
              <a:t>Career direction: business strategy, data and applied AI — identifying where technology creates measurable value, rather than implementing technology for its own sake.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B1E5F"/>
        </a:solidFill>
        <a:effectLst/>
      </p:bgPr>
    </p:bg>
    <p:spTree>
      <p:nvGrpSpPr>
        <p:cNvPr id="1" name="">
          <a:extLst>
            <a:ext uri="{FF2B5EF4-FFF2-40B4-BE49-F238E27FC236}">
              <a16:creationId xmlns:a16="http://schemas.microsoft.com/office/drawing/2014/main" id="{C425190E-B31A-69B3-DF21-E1EC338840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5DB94DE-5469-E4B1-6F2C-43D5FDD513D1}"/>
              </a:ext>
            </a:extLst>
          </p:cNvPr>
          <p:cNvSpPr/>
          <p:nvPr/>
        </p:nvSpPr>
        <p:spPr>
          <a:xfrm>
            <a:off x="9463461" y="-1429473"/>
            <a:ext cx="5669280" cy="5669280"/>
          </a:xfrm>
          <a:prstGeom prst="ellipse">
            <a:avLst/>
          </a:prstGeom>
          <a:solidFill>
            <a:srgbClr val="5B3A8C">
              <a:alpha val="45000"/>
            </a:srgbClr>
          </a:solidFill>
          <a:ln/>
        </p:spPr>
        <p:txBody>
          <a:bodyPr/>
          <a:lstStyle/>
          <a:p>
            <a:endParaRPr lang="en-US" dirty="0"/>
          </a:p>
        </p:txBody>
      </p:sp>
      <p:sp>
        <p:nvSpPr>
          <p:cNvPr id="3" name="Shape 1">
            <a:extLst>
              <a:ext uri="{FF2B5EF4-FFF2-40B4-BE49-F238E27FC236}">
                <a16:creationId xmlns:a16="http://schemas.microsoft.com/office/drawing/2014/main" id="{F4C5A426-EEF0-A3A8-5139-3912700608B9}"/>
              </a:ext>
            </a:extLst>
          </p:cNvPr>
          <p:cNvSpPr/>
          <p:nvPr/>
        </p:nvSpPr>
        <p:spPr>
          <a:xfrm>
            <a:off x="-446784" y="4985564"/>
            <a:ext cx="3108960" cy="3108960"/>
          </a:xfrm>
          <a:prstGeom prst="ellipse">
            <a:avLst/>
          </a:prstGeom>
          <a:solidFill>
            <a:srgbClr val="F26522">
              <a:alpha val="22000"/>
            </a:srgbClr>
          </a:solidFill>
          <a:ln/>
        </p:spPr>
      </p:sp>
      <p:sp>
        <p:nvSpPr>
          <p:cNvPr id="4" name="Text 2">
            <a:extLst>
              <a:ext uri="{FF2B5EF4-FFF2-40B4-BE49-F238E27FC236}">
                <a16:creationId xmlns:a16="http://schemas.microsoft.com/office/drawing/2014/main" id="{D8C0ACF2-59D5-B238-7625-ACA48D53A1F2}"/>
              </a:ext>
            </a:extLst>
          </p:cNvPr>
          <p:cNvSpPr txBox="1"/>
          <p:nvPr/>
        </p:nvSpPr>
        <p:spPr>
          <a:xfrm>
            <a:off x="1645341" y="993687"/>
            <a:ext cx="7315200" cy="274320"/>
          </a:xfrm>
          <a:prstGeom prst="rect">
            <a:avLst/>
          </a:prstGeom>
          <a:noFill/>
          <a:ln/>
        </p:spPr>
        <p:txBody>
          <a:bodyPr wrap="square" lIns="0" tIns="0" rIns="0" bIns="0" rtlCol="0" anchor="ctr"/>
          <a:lstStyle/>
          <a:p>
            <a:pPr marL="0" indent="0">
              <a:buNone/>
            </a:pPr>
            <a:r>
              <a:rPr lang="en-US" sz="1600" b="1" kern="0" spc="200" dirty="0">
                <a:solidFill>
                  <a:srgbClr val="F26522"/>
                </a:solidFill>
                <a:latin typeface="Calibri" pitchFamily="34" charset="0"/>
                <a:ea typeface="Calibri" pitchFamily="34" charset="-122"/>
                <a:cs typeface="Calibri" pitchFamily="34" charset="-120"/>
              </a:rPr>
              <a:t>SUMMER INTERNSHIP REPORT </a:t>
            </a:r>
            <a:endParaRPr lang="en-US" sz="1600" dirty="0"/>
          </a:p>
        </p:txBody>
      </p:sp>
      <p:sp>
        <p:nvSpPr>
          <p:cNvPr id="5" name="Text 3">
            <a:extLst>
              <a:ext uri="{FF2B5EF4-FFF2-40B4-BE49-F238E27FC236}">
                <a16:creationId xmlns:a16="http://schemas.microsoft.com/office/drawing/2014/main" id="{A0F47531-5A53-A49F-F4EE-E6606717D8F5}"/>
              </a:ext>
            </a:extLst>
          </p:cNvPr>
          <p:cNvSpPr txBox="1"/>
          <p:nvPr/>
        </p:nvSpPr>
        <p:spPr>
          <a:xfrm>
            <a:off x="1599621" y="1382307"/>
            <a:ext cx="7863840" cy="868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7" name="Shape 5">
            <a:extLst>
              <a:ext uri="{FF2B5EF4-FFF2-40B4-BE49-F238E27FC236}">
                <a16:creationId xmlns:a16="http://schemas.microsoft.com/office/drawing/2014/main" id="{8C923441-58D0-017F-31FB-C59367959862}"/>
              </a:ext>
            </a:extLst>
          </p:cNvPr>
          <p:cNvSpPr/>
          <p:nvPr/>
        </p:nvSpPr>
        <p:spPr>
          <a:xfrm flipV="1">
            <a:off x="1645340" y="2443186"/>
            <a:ext cx="3528543" cy="45719"/>
          </a:xfrm>
          <a:prstGeom prst="rect">
            <a:avLst/>
          </a:prstGeom>
          <a:solidFill>
            <a:srgbClr val="F26522"/>
          </a:solidFill>
          <a:ln w="12700">
            <a:solidFill>
              <a:srgbClr val="F26522"/>
            </a:solidFill>
            <a:prstDash val="solid"/>
          </a:ln>
        </p:spPr>
      </p:sp>
      <p:sp>
        <p:nvSpPr>
          <p:cNvPr id="8" name="Text 6">
            <a:extLst>
              <a:ext uri="{FF2B5EF4-FFF2-40B4-BE49-F238E27FC236}">
                <a16:creationId xmlns:a16="http://schemas.microsoft.com/office/drawing/2014/main" id="{2233E713-CE13-78CF-32B1-95E2CC5F5FDE}"/>
              </a:ext>
            </a:extLst>
          </p:cNvPr>
          <p:cNvSpPr txBox="1"/>
          <p:nvPr/>
        </p:nvSpPr>
        <p:spPr>
          <a:xfrm>
            <a:off x="1645341" y="2952876"/>
            <a:ext cx="7315200" cy="38404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Malla Sampath Narayana</a:t>
            </a:r>
            <a:endParaRPr lang="en-US" sz="2000" dirty="0"/>
          </a:p>
        </p:txBody>
      </p:sp>
      <p:sp>
        <p:nvSpPr>
          <p:cNvPr id="9" name="Text 7">
            <a:extLst>
              <a:ext uri="{FF2B5EF4-FFF2-40B4-BE49-F238E27FC236}">
                <a16:creationId xmlns:a16="http://schemas.microsoft.com/office/drawing/2014/main" id="{BE4C1F46-3026-BC96-5D96-6FE94EE90649}"/>
              </a:ext>
            </a:extLst>
          </p:cNvPr>
          <p:cNvSpPr txBox="1"/>
          <p:nvPr/>
        </p:nvSpPr>
        <p:spPr>
          <a:xfrm>
            <a:off x="1668489" y="3361057"/>
            <a:ext cx="7315200" cy="320040"/>
          </a:xfrm>
          <a:prstGeom prst="rect">
            <a:avLst/>
          </a:prstGeom>
          <a:noFill/>
          <a:ln/>
        </p:spPr>
        <p:txBody>
          <a:bodyPr wrap="square" lIns="0" tIns="0" rIns="0" bIns="0" rtlCol="0" anchor="ctr"/>
          <a:lstStyle/>
          <a:p>
            <a:pPr marL="0" indent="0">
              <a:buNone/>
            </a:pPr>
            <a:r>
              <a:rPr lang="en-US" sz="1500" dirty="0">
                <a:solidFill>
                  <a:srgbClr val="E2D9EF"/>
                </a:solidFill>
                <a:latin typeface="Calibri" pitchFamily="34" charset="0"/>
                <a:ea typeface="Calibri" pitchFamily="34" charset="-122"/>
                <a:cs typeface="Calibri" pitchFamily="34" charset="-120"/>
              </a:rPr>
              <a:t>Roll No. 22HS23010</a:t>
            </a:r>
            <a:endParaRPr lang="en-US" sz="1500" dirty="0"/>
          </a:p>
        </p:txBody>
      </p:sp>
      <p:sp>
        <p:nvSpPr>
          <p:cNvPr id="10" name="Text 8">
            <a:extLst>
              <a:ext uri="{FF2B5EF4-FFF2-40B4-BE49-F238E27FC236}">
                <a16:creationId xmlns:a16="http://schemas.microsoft.com/office/drawing/2014/main" id="{34F7B766-1CF8-9B3A-D6DA-4A9552274B9C}"/>
              </a:ext>
            </a:extLst>
          </p:cNvPr>
          <p:cNvSpPr txBox="1"/>
          <p:nvPr/>
        </p:nvSpPr>
        <p:spPr>
          <a:xfrm>
            <a:off x="1668489" y="3554817"/>
            <a:ext cx="7018329" cy="868680"/>
          </a:xfrm>
          <a:prstGeom prst="rect">
            <a:avLst/>
          </a:prstGeom>
          <a:noFill/>
          <a:ln/>
        </p:spPr>
        <p:txBody>
          <a:bodyPr wrap="square" lIns="0" tIns="0" rIns="0" bIns="0" rtlCol="0" anchor="ctr"/>
          <a:lstStyle/>
          <a:p>
            <a:pPr marL="0" indent="0">
              <a:lnSpc>
                <a:spcPts val="2000"/>
              </a:lnSpc>
              <a:buNone/>
            </a:pPr>
            <a:r>
              <a:rPr lang="en-US" sz="1300" dirty="0">
                <a:solidFill>
                  <a:srgbClr val="E2D9EF"/>
                </a:solidFill>
                <a:latin typeface="Calibri" pitchFamily="34" charset="0"/>
                <a:ea typeface="Calibri" pitchFamily="34" charset="-122"/>
                <a:cs typeface="Calibri" pitchFamily="34" charset="-120"/>
              </a:rPr>
              <a:t>Department of Humanities and Social Sciences</a:t>
            </a:r>
            <a:endParaRPr lang="en-US" sz="1300" dirty="0"/>
          </a:p>
          <a:p>
            <a:pPr marL="0" indent="0">
              <a:lnSpc>
                <a:spcPts val="2000"/>
              </a:lnSpc>
              <a:buNone/>
            </a:pPr>
            <a:r>
              <a:rPr lang="en-US" sz="1300" dirty="0">
                <a:solidFill>
                  <a:srgbClr val="E2D9EF"/>
                </a:solidFill>
                <a:latin typeface="Calibri" pitchFamily="34" charset="0"/>
                <a:ea typeface="Calibri" pitchFamily="34" charset="-122"/>
                <a:cs typeface="Calibri" pitchFamily="34" charset="-120"/>
              </a:rPr>
              <a:t>Indian Institute of Technology Kharagpur, West Bengal</a:t>
            </a:r>
            <a:endParaRPr lang="en-US" sz="1300" dirty="0"/>
          </a:p>
        </p:txBody>
      </p:sp>
    </p:spTree>
    <p:extLst>
      <p:ext uri="{BB962C8B-B14F-4D97-AF65-F5344CB8AC3E}">
        <p14:creationId xmlns:p14="http://schemas.microsoft.com/office/powerpoint/2010/main" val="456331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8778240" cy="566928"/>
          </a:xfrm>
          <a:prstGeom prst="rect">
            <a:avLst/>
          </a:prstGeom>
          <a:noFill/>
          <a:ln/>
        </p:spPr>
        <p:txBody>
          <a:bodyPr wrap="square" lIns="0" tIns="0" rIns="0" bIns="0" rtlCol="0" anchor="ctr"/>
          <a:lstStyle/>
          <a:p>
            <a:pPr marL="0" indent="0">
              <a:buNone/>
            </a:pPr>
            <a:r>
              <a:rPr lang="en-US" sz="3400" b="1" dirty="0">
                <a:solidFill>
                  <a:srgbClr val="3B1E5F"/>
                </a:solidFill>
                <a:latin typeface="Cambria" pitchFamily="34" charset="0"/>
                <a:ea typeface="Cambria" pitchFamily="34" charset="-122"/>
                <a:cs typeface="Cambria" pitchFamily="34" charset="-120"/>
              </a:rPr>
              <a:t>Role and Responsibilities</a:t>
            </a:r>
            <a:endParaRPr lang="en-US" sz="3400" dirty="0"/>
          </a:p>
        </p:txBody>
      </p:sp>
      <p:sp>
        <p:nvSpPr>
          <p:cNvPr id="3" name="Text 1"/>
          <p:cNvSpPr txBox="1"/>
          <p:nvPr/>
        </p:nvSpPr>
        <p:spPr>
          <a:xfrm>
            <a:off x="594360" y="960120"/>
            <a:ext cx="10058400" cy="320040"/>
          </a:xfrm>
          <a:prstGeom prst="rect">
            <a:avLst/>
          </a:prstGeom>
          <a:noFill/>
          <a:ln/>
        </p:spPr>
        <p:txBody>
          <a:bodyPr wrap="square" lIns="0" tIns="0" rIns="0" bIns="0" rtlCol="0" anchor="ctr"/>
          <a:lstStyle/>
          <a:p>
            <a:pPr marL="0" indent="0">
              <a:buNone/>
            </a:pPr>
            <a:r>
              <a:rPr lang="en-US" sz="1400" i="1" dirty="0">
                <a:solidFill>
                  <a:srgbClr val="6E6880"/>
                </a:solidFill>
                <a:latin typeface="Calibri" pitchFamily="34" charset="0"/>
                <a:ea typeface="Calibri" pitchFamily="34" charset="-122"/>
                <a:cs typeface="Calibri" pitchFamily="34" charset="-120"/>
              </a:rPr>
              <a:t>Intern, Centre of Excellence — Office of the MD &amp; CEO</a:t>
            </a:r>
            <a:endParaRPr lang="en-US" sz="1400" dirty="0"/>
          </a:p>
        </p:txBody>
      </p:sp>
      <p:sp>
        <p:nvSpPr>
          <p:cNvPr id="4" name="Shape 2"/>
          <p:cNvSpPr/>
          <p:nvPr/>
        </p:nvSpPr>
        <p:spPr>
          <a:xfrm>
            <a:off x="594360" y="1572768"/>
            <a:ext cx="3429000" cy="1938528"/>
          </a:xfrm>
          <a:prstGeom prst="roundRect">
            <a:avLst>
              <a:gd name="adj" fmla="val 4245"/>
            </a:avLst>
          </a:prstGeom>
          <a:solidFill>
            <a:srgbClr val="F0EBF7"/>
          </a:solidFill>
          <a:ln w="9525">
            <a:solidFill>
              <a:srgbClr val="E2D9EF"/>
            </a:solidFill>
            <a:prstDash val="solid"/>
          </a:ln>
        </p:spPr>
      </p:sp>
      <p:sp>
        <p:nvSpPr>
          <p:cNvPr id="5" name="Shape 3"/>
          <p:cNvSpPr/>
          <p:nvPr/>
        </p:nvSpPr>
        <p:spPr>
          <a:xfrm>
            <a:off x="850392" y="1828800"/>
            <a:ext cx="457200" cy="457200"/>
          </a:xfrm>
          <a:prstGeom prst="ellipse">
            <a:avLst/>
          </a:prstGeom>
          <a:solidFill>
            <a:srgbClr val="F26522"/>
          </a:solidFill>
          <a:ln w="12700">
            <a:solidFill>
              <a:srgbClr val="F26522"/>
            </a:solidFill>
            <a:prstDash val="solid"/>
          </a:ln>
        </p:spPr>
      </p:sp>
      <p:pic>
        <p:nvPicPr>
          <p:cNvPr id="6" name="Image 0" descr="preencoded.png"/>
          <p:cNvPicPr>
            <a:picLocks noChangeAspect="1"/>
          </p:cNvPicPr>
          <p:nvPr/>
        </p:nvPicPr>
        <p:blipFill>
          <a:blip r:embed="rId3"/>
          <a:stretch>
            <a:fillRect/>
          </a:stretch>
        </p:blipFill>
        <p:spPr>
          <a:xfrm>
            <a:off x="964692" y="1943100"/>
            <a:ext cx="228600" cy="228600"/>
          </a:xfrm>
          <a:prstGeom prst="rect">
            <a:avLst/>
          </a:prstGeom>
        </p:spPr>
      </p:pic>
      <p:sp>
        <p:nvSpPr>
          <p:cNvPr id="7" name="Text 4"/>
          <p:cNvSpPr txBox="1"/>
          <p:nvPr/>
        </p:nvSpPr>
        <p:spPr>
          <a:xfrm>
            <a:off x="850392" y="2377440"/>
            <a:ext cx="29260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Use-case discovery</a:t>
            </a:r>
            <a:endParaRPr lang="en-US" sz="1450" dirty="0"/>
          </a:p>
        </p:txBody>
      </p:sp>
      <p:sp>
        <p:nvSpPr>
          <p:cNvPr id="8" name="Text 5"/>
          <p:cNvSpPr txBox="1"/>
          <p:nvPr/>
        </p:nvSpPr>
        <p:spPr>
          <a:xfrm>
            <a:off x="850392" y="2670048"/>
            <a:ext cx="2926080" cy="749808"/>
          </a:xfrm>
          <a:prstGeom prst="rect">
            <a:avLst/>
          </a:prstGeom>
          <a:noFill/>
          <a:ln/>
        </p:spPr>
        <p:txBody>
          <a:bodyPr wrap="square" lIns="0" tIns="0" rIns="0" bIns="0" rtlCol="0" anchor="ctr"/>
          <a:lstStyle/>
          <a:p>
            <a:pPr marL="0" indent="0">
              <a:lnSpc>
                <a:spcPts val="1500"/>
              </a:lnSpc>
              <a:buNone/>
            </a:pPr>
            <a:r>
              <a:rPr lang="en-US" sz="1150" dirty="0">
                <a:solidFill>
                  <a:srgbClr val="26262E"/>
                </a:solidFill>
                <a:latin typeface="Calibri" pitchFamily="34" charset="0"/>
                <a:ea typeface="Calibri" pitchFamily="34" charset="-122"/>
                <a:cs typeface="Calibri" pitchFamily="34" charset="-120"/>
              </a:rPr>
              <a:t>Engage business functions to identify processes suitable for AI intervention, focused on cost reduction and turnaround time.</a:t>
            </a:r>
            <a:endParaRPr lang="en-US" sz="1150" dirty="0"/>
          </a:p>
        </p:txBody>
      </p:sp>
      <p:sp>
        <p:nvSpPr>
          <p:cNvPr id="9" name="Shape 6"/>
          <p:cNvSpPr/>
          <p:nvPr/>
        </p:nvSpPr>
        <p:spPr>
          <a:xfrm>
            <a:off x="4315968" y="1572768"/>
            <a:ext cx="3429000" cy="1938528"/>
          </a:xfrm>
          <a:prstGeom prst="roundRect">
            <a:avLst>
              <a:gd name="adj" fmla="val 4245"/>
            </a:avLst>
          </a:prstGeom>
          <a:solidFill>
            <a:srgbClr val="F0EBF7"/>
          </a:solidFill>
          <a:ln w="9525">
            <a:solidFill>
              <a:srgbClr val="E2D9EF"/>
            </a:solidFill>
            <a:prstDash val="solid"/>
          </a:ln>
        </p:spPr>
      </p:sp>
      <p:sp>
        <p:nvSpPr>
          <p:cNvPr id="10" name="Shape 7"/>
          <p:cNvSpPr/>
          <p:nvPr/>
        </p:nvSpPr>
        <p:spPr>
          <a:xfrm>
            <a:off x="4572000" y="1828800"/>
            <a:ext cx="457200" cy="457200"/>
          </a:xfrm>
          <a:prstGeom prst="ellipse">
            <a:avLst/>
          </a:prstGeom>
          <a:solidFill>
            <a:srgbClr val="F26522"/>
          </a:solidFill>
          <a:ln w="12700">
            <a:solidFill>
              <a:srgbClr val="F26522"/>
            </a:solidFill>
            <a:prstDash val="solid"/>
          </a:ln>
        </p:spPr>
      </p:sp>
      <p:pic>
        <p:nvPicPr>
          <p:cNvPr id="11" name="Image 1" descr="preencoded.png"/>
          <p:cNvPicPr>
            <a:picLocks noChangeAspect="1"/>
          </p:cNvPicPr>
          <p:nvPr/>
        </p:nvPicPr>
        <p:blipFill>
          <a:blip r:embed="rId4"/>
          <a:stretch>
            <a:fillRect/>
          </a:stretch>
        </p:blipFill>
        <p:spPr>
          <a:xfrm>
            <a:off x="4686300" y="1943100"/>
            <a:ext cx="228600" cy="228600"/>
          </a:xfrm>
          <a:prstGeom prst="rect">
            <a:avLst/>
          </a:prstGeom>
        </p:spPr>
      </p:pic>
      <p:sp>
        <p:nvSpPr>
          <p:cNvPr id="12" name="Text 8"/>
          <p:cNvSpPr txBox="1"/>
          <p:nvPr/>
        </p:nvSpPr>
        <p:spPr>
          <a:xfrm>
            <a:off x="4572000" y="2377440"/>
            <a:ext cx="29260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Stakeholder management</a:t>
            </a:r>
            <a:endParaRPr lang="en-US" sz="1450" dirty="0"/>
          </a:p>
        </p:txBody>
      </p:sp>
      <p:sp>
        <p:nvSpPr>
          <p:cNvPr id="13" name="Text 9"/>
          <p:cNvSpPr txBox="1"/>
          <p:nvPr/>
        </p:nvSpPr>
        <p:spPr>
          <a:xfrm>
            <a:off x="4572000" y="2670048"/>
            <a:ext cx="2926080" cy="749808"/>
          </a:xfrm>
          <a:prstGeom prst="rect">
            <a:avLst/>
          </a:prstGeom>
          <a:noFill/>
          <a:ln/>
        </p:spPr>
        <p:txBody>
          <a:bodyPr wrap="square" lIns="0" tIns="0" rIns="0" bIns="0" rtlCol="0" anchor="ctr"/>
          <a:lstStyle/>
          <a:p>
            <a:pPr marL="0" indent="0">
              <a:lnSpc>
                <a:spcPts val="1500"/>
              </a:lnSpc>
              <a:buNone/>
            </a:pPr>
            <a:r>
              <a:rPr lang="en-US" sz="1150" dirty="0">
                <a:solidFill>
                  <a:srgbClr val="26262E"/>
                </a:solidFill>
                <a:latin typeface="Calibri" pitchFamily="34" charset="0"/>
                <a:ea typeface="Calibri" pitchFamily="34" charset="-122"/>
                <a:cs typeface="Calibri" pitchFamily="34" charset="-120"/>
              </a:rPr>
              <a:t>Act as the coordination point between business departments, technology, external vendors and senior management.</a:t>
            </a:r>
            <a:endParaRPr lang="en-US" sz="1150" dirty="0"/>
          </a:p>
        </p:txBody>
      </p:sp>
      <p:sp>
        <p:nvSpPr>
          <p:cNvPr id="14" name="Shape 10"/>
          <p:cNvSpPr/>
          <p:nvPr/>
        </p:nvSpPr>
        <p:spPr>
          <a:xfrm>
            <a:off x="8037576" y="1572768"/>
            <a:ext cx="3429000" cy="1938528"/>
          </a:xfrm>
          <a:prstGeom prst="roundRect">
            <a:avLst>
              <a:gd name="adj" fmla="val 4245"/>
            </a:avLst>
          </a:prstGeom>
          <a:solidFill>
            <a:srgbClr val="F0EBF7"/>
          </a:solidFill>
          <a:ln w="9525">
            <a:solidFill>
              <a:srgbClr val="E2D9EF"/>
            </a:solidFill>
            <a:prstDash val="solid"/>
          </a:ln>
        </p:spPr>
      </p:sp>
      <p:sp>
        <p:nvSpPr>
          <p:cNvPr id="15" name="Shape 11"/>
          <p:cNvSpPr/>
          <p:nvPr/>
        </p:nvSpPr>
        <p:spPr>
          <a:xfrm>
            <a:off x="8293608" y="1828800"/>
            <a:ext cx="457200" cy="457200"/>
          </a:xfrm>
          <a:prstGeom prst="ellipse">
            <a:avLst/>
          </a:prstGeom>
          <a:solidFill>
            <a:srgbClr val="F26522"/>
          </a:solidFill>
          <a:ln w="12700">
            <a:solidFill>
              <a:srgbClr val="F26522"/>
            </a:solidFill>
            <a:prstDash val="solid"/>
          </a:ln>
        </p:spPr>
      </p:sp>
      <p:pic>
        <p:nvPicPr>
          <p:cNvPr id="16" name="Image 2" descr="preencoded.png"/>
          <p:cNvPicPr>
            <a:picLocks noChangeAspect="1"/>
          </p:cNvPicPr>
          <p:nvPr/>
        </p:nvPicPr>
        <p:blipFill>
          <a:blip r:embed="rId5"/>
          <a:stretch>
            <a:fillRect/>
          </a:stretch>
        </p:blipFill>
        <p:spPr>
          <a:xfrm>
            <a:off x="8407908" y="1943100"/>
            <a:ext cx="228600" cy="228600"/>
          </a:xfrm>
          <a:prstGeom prst="rect">
            <a:avLst/>
          </a:prstGeom>
        </p:spPr>
      </p:pic>
      <p:sp>
        <p:nvSpPr>
          <p:cNvPr id="17" name="Text 12"/>
          <p:cNvSpPr txBox="1"/>
          <p:nvPr/>
        </p:nvSpPr>
        <p:spPr>
          <a:xfrm>
            <a:off x="8293608" y="2377440"/>
            <a:ext cx="29260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Data preparation &amp; analysis</a:t>
            </a:r>
            <a:endParaRPr lang="en-US" sz="1450" dirty="0"/>
          </a:p>
        </p:txBody>
      </p:sp>
      <p:sp>
        <p:nvSpPr>
          <p:cNvPr id="18" name="Text 13"/>
          <p:cNvSpPr txBox="1"/>
          <p:nvPr/>
        </p:nvSpPr>
        <p:spPr>
          <a:xfrm>
            <a:off x="8293608" y="2670048"/>
            <a:ext cx="2926080" cy="749808"/>
          </a:xfrm>
          <a:prstGeom prst="rect">
            <a:avLst/>
          </a:prstGeom>
          <a:noFill/>
          <a:ln/>
        </p:spPr>
        <p:txBody>
          <a:bodyPr wrap="square" lIns="0" tIns="0" rIns="0" bIns="0" rtlCol="0" anchor="ctr"/>
          <a:lstStyle/>
          <a:p>
            <a:pPr marL="0" indent="0">
              <a:lnSpc>
                <a:spcPts val="1500"/>
              </a:lnSpc>
              <a:buNone/>
            </a:pPr>
            <a:r>
              <a:rPr lang="en-US" sz="1150" dirty="0">
                <a:solidFill>
                  <a:srgbClr val="26262E"/>
                </a:solidFill>
                <a:latin typeface="Calibri" pitchFamily="34" charset="0"/>
                <a:ea typeface="Calibri" pitchFamily="34" charset="-122"/>
                <a:cs typeface="Calibri" pitchFamily="34" charset="-120"/>
              </a:rPr>
              <a:t>Build, clean, validate and analyse large employee and operational datasets in Excel and Advanced Excel.</a:t>
            </a:r>
            <a:endParaRPr lang="en-US" sz="1150" dirty="0"/>
          </a:p>
        </p:txBody>
      </p:sp>
      <p:sp>
        <p:nvSpPr>
          <p:cNvPr id="19" name="Shape 14"/>
          <p:cNvSpPr/>
          <p:nvPr/>
        </p:nvSpPr>
        <p:spPr>
          <a:xfrm>
            <a:off x="594360" y="3813048"/>
            <a:ext cx="3429000" cy="1938528"/>
          </a:xfrm>
          <a:prstGeom prst="roundRect">
            <a:avLst>
              <a:gd name="adj" fmla="val 4245"/>
            </a:avLst>
          </a:prstGeom>
          <a:solidFill>
            <a:srgbClr val="F0EBF7"/>
          </a:solidFill>
          <a:ln w="9525">
            <a:solidFill>
              <a:srgbClr val="E2D9EF"/>
            </a:solidFill>
            <a:prstDash val="solid"/>
          </a:ln>
        </p:spPr>
      </p:sp>
      <p:sp>
        <p:nvSpPr>
          <p:cNvPr id="20" name="Shape 15"/>
          <p:cNvSpPr/>
          <p:nvPr/>
        </p:nvSpPr>
        <p:spPr>
          <a:xfrm>
            <a:off x="850392" y="4069080"/>
            <a:ext cx="457200" cy="457200"/>
          </a:xfrm>
          <a:prstGeom prst="ellipse">
            <a:avLst/>
          </a:prstGeom>
          <a:solidFill>
            <a:srgbClr val="F26522"/>
          </a:solidFill>
          <a:ln w="12700">
            <a:solidFill>
              <a:srgbClr val="F26522"/>
            </a:solidFill>
            <a:prstDash val="solid"/>
          </a:ln>
        </p:spPr>
      </p:sp>
      <p:pic>
        <p:nvPicPr>
          <p:cNvPr id="21" name="Image 3" descr="preencoded.png"/>
          <p:cNvPicPr>
            <a:picLocks noChangeAspect="1"/>
          </p:cNvPicPr>
          <p:nvPr/>
        </p:nvPicPr>
        <p:blipFill>
          <a:blip r:embed="rId6"/>
          <a:stretch>
            <a:fillRect/>
          </a:stretch>
        </p:blipFill>
        <p:spPr>
          <a:xfrm>
            <a:off x="964692" y="4183380"/>
            <a:ext cx="228600" cy="228600"/>
          </a:xfrm>
          <a:prstGeom prst="rect">
            <a:avLst/>
          </a:prstGeom>
        </p:spPr>
      </p:pic>
      <p:sp>
        <p:nvSpPr>
          <p:cNvPr id="22" name="Text 16"/>
          <p:cNvSpPr txBox="1"/>
          <p:nvPr/>
        </p:nvSpPr>
        <p:spPr>
          <a:xfrm>
            <a:off x="850392" y="4617720"/>
            <a:ext cx="29260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Vendor evaluation</a:t>
            </a:r>
            <a:endParaRPr lang="en-US" sz="1450" dirty="0"/>
          </a:p>
        </p:txBody>
      </p:sp>
      <p:sp>
        <p:nvSpPr>
          <p:cNvPr id="23" name="Text 17"/>
          <p:cNvSpPr txBox="1"/>
          <p:nvPr/>
        </p:nvSpPr>
        <p:spPr>
          <a:xfrm>
            <a:off x="850392" y="4910328"/>
            <a:ext cx="2926080" cy="749808"/>
          </a:xfrm>
          <a:prstGeom prst="rect">
            <a:avLst/>
          </a:prstGeom>
          <a:noFill/>
          <a:ln/>
        </p:spPr>
        <p:txBody>
          <a:bodyPr wrap="square" lIns="0" tIns="0" rIns="0" bIns="0" rtlCol="0" anchor="ctr"/>
          <a:lstStyle/>
          <a:p>
            <a:pPr marL="0" indent="0">
              <a:lnSpc>
                <a:spcPts val="1500"/>
              </a:lnSpc>
              <a:buNone/>
            </a:pPr>
            <a:r>
              <a:rPr lang="en-US" sz="1150" dirty="0">
                <a:solidFill>
                  <a:srgbClr val="26262E"/>
                </a:solidFill>
                <a:latin typeface="Calibri" pitchFamily="34" charset="0"/>
                <a:ea typeface="Calibri" pitchFamily="34" charset="-122"/>
                <a:cs typeface="Calibri" pitchFamily="34" charset="-120"/>
              </a:rPr>
              <a:t>Assess vendors on functional, commercial and data-protection criteria and support the selection decision.</a:t>
            </a:r>
            <a:endParaRPr lang="en-US" sz="1150" dirty="0"/>
          </a:p>
        </p:txBody>
      </p:sp>
      <p:sp>
        <p:nvSpPr>
          <p:cNvPr id="24" name="Shape 18"/>
          <p:cNvSpPr/>
          <p:nvPr/>
        </p:nvSpPr>
        <p:spPr>
          <a:xfrm>
            <a:off x="4315968" y="3813048"/>
            <a:ext cx="3429000" cy="1938528"/>
          </a:xfrm>
          <a:prstGeom prst="roundRect">
            <a:avLst>
              <a:gd name="adj" fmla="val 4245"/>
            </a:avLst>
          </a:prstGeom>
          <a:solidFill>
            <a:srgbClr val="F0EBF7"/>
          </a:solidFill>
          <a:ln w="9525">
            <a:solidFill>
              <a:srgbClr val="E2D9EF"/>
            </a:solidFill>
            <a:prstDash val="solid"/>
          </a:ln>
        </p:spPr>
      </p:sp>
      <p:sp>
        <p:nvSpPr>
          <p:cNvPr id="25" name="Shape 19"/>
          <p:cNvSpPr/>
          <p:nvPr/>
        </p:nvSpPr>
        <p:spPr>
          <a:xfrm>
            <a:off x="4572000" y="4069080"/>
            <a:ext cx="457200" cy="457200"/>
          </a:xfrm>
          <a:prstGeom prst="ellipse">
            <a:avLst/>
          </a:prstGeom>
          <a:solidFill>
            <a:srgbClr val="F26522"/>
          </a:solidFill>
          <a:ln w="12700">
            <a:solidFill>
              <a:srgbClr val="F26522"/>
            </a:solidFill>
            <a:prstDash val="solid"/>
          </a:ln>
        </p:spPr>
      </p:sp>
      <p:pic>
        <p:nvPicPr>
          <p:cNvPr id="26" name="Image 4" descr="preencoded.png"/>
          <p:cNvPicPr>
            <a:picLocks noChangeAspect="1"/>
          </p:cNvPicPr>
          <p:nvPr/>
        </p:nvPicPr>
        <p:blipFill>
          <a:blip r:embed="rId7"/>
          <a:stretch>
            <a:fillRect/>
          </a:stretch>
        </p:blipFill>
        <p:spPr>
          <a:xfrm>
            <a:off x="4686300" y="4183380"/>
            <a:ext cx="228600" cy="228600"/>
          </a:xfrm>
          <a:prstGeom prst="rect">
            <a:avLst/>
          </a:prstGeom>
        </p:spPr>
      </p:pic>
      <p:sp>
        <p:nvSpPr>
          <p:cNvPr id="27" name="Text 20"/>
          <p:cNvSpPr txBox="1"/>
          <p:nvPr/>
        </p:nvSpPr>
        <p:spPr>
          <a:xfrm>
            <a:off x="4572000" y="4617720"/>
            <a:ext cx="29260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Documentation &amp; knowledge</a:t>
            </a:r>
            <a:endParaRPr lang="en-US" sz="1450" dirty="0"/>
          </a:p>
        </p:txBody>
      </p:sp>
      <p:sp>
        <p:nvSpPr>
          <p:cNvPr id="28" name="Text 21"/>
          <p:cNvSpPr txBox="1"/>
          <p:nvPr/>
        </p:nvSpPr>
        <p:spPr>
          <a:xfrm>
            <a:off x="4572000" y="4910328"/>
            <a:ext cx="2926080" cy="749808"/>
          </a:xfrm>
          <a:prstGeom prst="rect">
            <a:avLst/>
          </a:prstGeom>
          <a:noFill/>
          <a:ln/>
        </p:spPr>
        <p:txBody>
          <a:bodyPr wrap="square" lIns="0" tIns="0" rIns="0" bIns="0" rtlCol="0" anchor="ctr"/>
          <a:lstStyle/>
          <a:p>
            <a:pPr marL="0" indent="0">
              <a:lnSpc>
                <a:spcPts val="1500"/>
              </a:lnSpc>
              <a:buNone/>
            </a:pPr>
            <a:r>
              <a:rPr lang="en-US" sz="1150" dirty="0">
                <a:solidFill>
                  <a:srgbClr val="26262E"/>
                </a:solidFill>
                <a:latin typeface="Calibri" pitchFamily="34" charset="0"/>
                <a:ea typeface="Calibri" pitchFamily="34" charset="-122"/>
                <a:cs typeface="Calibri" pitchFamily="34" charset="-120"/>
              </a:rPr>
              <a:t>Structure internal documentation for ingestion into the Bank's RAG-based knowledge platform.</a:t>
            </a:r>
            <a:endParaRPr lang="en-US" sz="1150" dirty="0"/>
          </a:p>
        </p:txBody>
      </p:sp>
      <p:sp>
        <p:nvSpPr>
          <p:cNvPr id="29" name="Shape 22"/>
          <p:cNvSpPr/>
          <p:nvPr/>
        </p:nvSpPr>
        <p:spPr>
          <a:xfrm>
            <a:off x="8037576" y="3813048"/>
            <a:ext cx="3429000" cy="1938528"/>
          </a:xfrm>
          <a:prstGeom prst="roundRect">
            <a:avLst>
              <a:gd name="adj" fmla="val 4245"/>
            </a:avLst>
          </a:prstGeom>
          <a:solidFill>
            <a:srgbClr val="F0EBF7"/>
          </a:solidFill>
          <a:ln w="9525">
            <a:solidFill>
              <a:srgbClr val="E2D9EF"/>
            </a:solidFill>
            <a:prstDash val="solid"/>
          </a:ln>
        </p:spPr>
      </p:sp>
      <p:sp>
        <p:nvSpPr>
          <p:cNvPr id="30" name="Shape 23"/>
          <p:cNvSpPr/>
          <p:nvPr/>
        </p:nvSpPr>
        <p:spPr>
          <a:xfrm>
            <a:off x="8293608" y="4069080"/>
            <a:ext cx="457200" cy="457200"/>
          </a:xfrm>
          <a:prstGeom prst="ellipse">
            <a:avLst/>
          </a:prstGeom>
          <a:solidFill>
            <a:srgbClr val="F26522"/>
          </a:solidFill>
          <a:ln w="12700">
            <a:solidFill>
              <a:srgbClr val="F26522"/>
            </a:solidFill>
            <a:prstDash val="solid"/>
          </a:ln>
        </p:spPr>
      </p:sp>
      <p:pic>
        <p:nvPicPr>
          <p:cNvPr id="31" name="Image 5" descr="preencoded.png"/>
          <p:cNvPicPr>
            <a:picLocks noChangeAspect="1"/>
          </p:cNvPicPr>
          <p:nvPr/>
        </p:nvPicPr>
        <p:blipFill>
          <a:blip r:embed="rId8"/>
          <a:stretch>
            <a:fillRect/>
          </a:stretch>
        </p:blipFill>
        <p:spPr>
          <a:xfrm>
            <a:off x="8407908" y="4183380"/>
            <a:ext cx="228600" cy="228600"/>
          </a:xfrm>
          <a:prstGeom prst="rect">
            <a:avLst/>
          </a:prstGeom>
        </p:spPr>
      </p:pic>
      <p:sp>
        <p:nvSpPr>
          <p:cNvPr id="32" name="Text 24"/>
          <p:cNvSpPr txBox="1"/>
          <p:nvPr/>
        </p:nvSpPr>
        <p:spPr>
          <a:xfrm>
            <a:off x="8293608" y="4617720"/>
            <a:ext cx="2926080" cy="274320"/>
          </a:xfrm>
          <a:prstGeom prst="rect">
            <a:avLst/>
          </a:prstGeom>
          <a:noFill/>
          <a:ln/>
        </p:spPr>
        <p:txBody>
          <a:bodyPr wrap="square" lIns="0" tIns="0" rIns="0" bIns="0" rtlCol="0" anchor="ctr"/>
          <a:lstStyle/>
          <a:p>
            <a:pPr marL="0" indent="0">
              <a:buNone/>
            </a:pPr>
            <a:r>
              <a:rPr lang="en-US" sz="1450" b="1" dirty="0">
                <a:solidFill>
                  <a:srgbClr val="3B1E5F"/>
                </a:solidFill>
                <a:latin typeface="Calibri" pitchFamily="34" charset="0"/>
                <a:ea typeface="Calibri" pitchFamily="34" charset="-122"/>
                <a:cs typeface="Calibri" pitchFamily="34" charset="-120"/>
              </a:rPr>
              <a:t>Project ownership</a:t>
            </a:r>
            <a:endParaRPr lang="en-US" sz="1450" dirty="0"/>
          </a:p>
        </p:txBody>
      </p:sp>
      <p:sp>
        <p:nvSpPr>
          <p:cNvPr id="33" name="Text 25"/>
          <p:cNvSpPr txBox="1"/>
          <p:nvPr/>
        </p:nvSpPr>
        <p:spPr>
          <a:xfrm>
            <a:off x="8293608" y="4910328"/>
            <a:ext cx="2926080" cy="749808"/>
          </a:xfrm>
          <a:prstGeom prst="rect">
            <a:avLst/>
          </a:prstGeom>
          <a:noFill/>
          <a:ln/>
        </p:spPr>
        <p:txBody>
          <a:bodyPr wrap="square" lIns="0" tIns="0" rIns="0" bIns="0" rtlCol="0" anchor="ctr"/>
          <a:lstStyle/>
          <a:p>
            <a:pPr marL="0" indent="0">
              <a:lnSpc>
                <a:spcPts val="1500"/>
              </a:lnSpc>
              <a:buNone/>
            </a:pPr>
            <a:r>
              <a:rPr lang="en-US" sz="1150" dirty="0">
                <a:solidFill>
                  <a:srgbClr val="26262E"/>
                </a:solidFill>
                <a:latin typeface="Calibri" pitchFamily="34" charset="0"/>
                <a:ea typeface="Calibri" pitchFamily="34" charset="-122"/>
                <a:cs typeface="Calibri" pitchFamily="34" charset="-120"/>
              </a:rPr>
              <a:t>Serve as primary POC for the WFH/Hybrid rollout and maintain continuity across its moving parts.</a:t>
            </a:r>
            <a:endParaRPr lang="en-US" sz="1150" dirty="0"/>
          </a:p>
        </p:txBody>
      </p:sp>
      <p:sp>
        <p:nvSpPr>
          <p:cNvPr id="34" name="Text 26"/>
          <p:cNvSpPr txBox="1"/>
          <p:nvPr/>
        </p:nvSpPr>
        <p:spPr>
          <a:xfrm>
            <a:off x="594360" y="6144768"/>
            <a:ext cx="10972800" cy="320040"/>
          </a:xfrm>
          <a:prstGeom prst="rect">
            <a:avLst/>
          </a:prstGeom>
          <a:noFill/>
          <a:ln/>
        </p:spPr>
        <p:txBody>
          <a:bodyPr wrap="square" lIns="0" tIns="0" rIns="0" bIns="0" rtlCol="0" anchor="ctr"/>
          <a:lstStyle/>
          <a:p>
            <a:pPr marL="0" indent="0">
              <a:buNone/>
            </a:pPr>
            <a:r>
              <a:rPr lang="en-US" sz="1250" i="1" dirty="0">
                <a:solidFill>
                  <a:srgbClr val="6E6880"/>
                </a:solidFill>
                <a:latin typeface="Calibri" pitchFamily="34" charset="0"/>
                <a:ea typeface="Calibri" pitchFamily="34" charset="-122"/>
                <a:cs typeface="Calibri" pitchFamily="34" charset="-120"/>
              </a:rPr>
              <a:t>A single week could include vendor negotiation, dataset preparation, deck-building and attending an industry conference with senior leadership.</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1746</TotalTime>
  <Words>1447</Words>
  <Application>Microsoft Macintosh PowerPoint</Application>
  <PresentationFormat>Widescreen</PresentationFormat>
  <Paragraphs>174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 &amp; CEO's Office Intern — AU Small Finance Bank</dc:title>
  <dc:subject>PptxGenJS Presentation</dc:subject>
  <dc:creator>Malla Sampath Narayana</dc:creator>
  <cp:lastModifiedBy>Sampath</cp:lastModifiedBy>
  <cp:revision>4</cp:revision>
  <dcterms:created xsi:type="dcterms:W3CDTF">2026-09-06T13:06:36Z</dcterms:created>
  <dcterms:modified xsi:type="dcterms:W3CDTF">2026-09-08T16:25:01Z</dcterms:modified>
</cp:coreProperties>
</file>